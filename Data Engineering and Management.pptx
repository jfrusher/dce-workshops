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299" r:id="rId2"/>
    <p:sldId id="276" r:id="rId3"/>
    <p:sldId id="257" r:id="rId4"/>
    <p:sldId id="277" r:id="rId5"/>
    <p:sldId id="278" r:id="rId6"/>
    <p:sldId id="279" r:id="rId7"/>
    <p:sldId id="282" r:id="rId8"/>
    <p:sldId id="297" r:id="rId9"/>
    <p:sldId id="280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8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259" r:id="rId32"/>
    <p:sldId id="260" r:id="rId33"/>
    <p:sldId id="261" r:id="rId34"/>
    <p:sldId id="270" r:id="rId35"/>
    <p:sldId id="293" r:id="rId36"/>
    <p:sldId id="296" r:id="rId37"/>
    <p:sldId id="262" r:id="rId38"/>
    <p:sldId id="268" r:id="rId39"/>
    <p:sldId id="264" r:id="rId40"/>
    <p:sldId id="271" r:id="rId41"/>
    <p:sldId id="265" r:id="rId42"/>
    <p:sldId id="263" r:id="rId43"/>
    <p:sldId id="272" r:id="rId44"/>
  </p:sldIdLst>
  <p:sldSz cx="12192000" cy="6858000"/>
  <p:notesSz cx="6858000" cy="9144000"/>
  <p:embeddedFontLst>
    <p:embeddedFont>
      <p:font typeface="Consolas" panose="020B0609020204030204" pitchFamily="49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C8342-3E5F-4EAF-8311-495DC9470737}" v="5" dt="2026-06-30T14:40:58.762"/>
    <p1510:client id="{CA2F91B4-F5EC-42E7-BEE7-A26D9A16A8AE}" v="1" dt="2026-07-01T13:04:57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75AF2-E8BF-4A45-B5F3-E0787C67B14A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AFD12-1E4E-4617-8E8E-CA9DFEDE5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31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Introduce versioning as a general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167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problem and ask for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81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a general explanation of versioning and explain how it can fix 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019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for any examples of where people know of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113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through the uses of it and the reasons to try and get people to realise that the cost of setting it up is worth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81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 the stage and explain what a snapshot/commit it to help people understand the background of 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576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0FC9-9C6C-BB81-7919-E034B839F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09B91-C47A-DC74-30A7-93BE17C14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E69C9-533F-E3EE-38F1-5692CD8EB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branching both for teams and personal uses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C9ADE-1962-CDC5-4872-EC6AEBAB1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203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difference and highlight where to use one or the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9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you want go onto your files and make a bad edit and then revert 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509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through these, breaking down the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637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people some examples and get them to work out the commit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565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branching both for teams and personal uses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426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uses of this in DCE, get people to talk through examples etc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117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DVC and PDM for use in CAD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955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209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285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 do we get Nulls, Nans etc, which statistical imputations should be used for which columns etc and what could be the bad things of </a:t>
            </a:r>
            <a:r>
              <a:rPr lang="en-GB" dirty="0" err="1"/>
              <a:t>Ffill</a:t>
            </a:r>
            <a:r>
              <a:rPr lang="en-GB" dirty="0"/>
              <a:t> leading onwards to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912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 could this happen? Explain what strip and lower does and talk about the available smart parsers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028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for examples of domain specific knowledge, talk about IQR filters and where appropriate to use</a:t>
            </a:r>
          </a:p>
          <a:p>
            <a:r>
              <a:rPr lang="en-GB" dirty="0"/>
              <a:t>Talk about places to use rolling filters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219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the example of less tech savvy older patients may forget to enter their age to by harmonizing you destroy this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658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30F5-07A0-BBAA-8D79-A7A11406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7CAA3-2392-0FB6-A1D6-908E1CA85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8ED5C-C03F-9C6C-98F7-93A92D2CE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4BB16-7AE4-4675-887B-4DA5F5EA3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395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C9CC-519C-4E04-166D-9269C0A3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FB8F6-A194-5AEA-9566-F054B92BD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2D87D-2072-3733-AF37-9A9109618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6D795-79B5-D083-42BB-7DFF0885C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982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uses for all of these, explain mat is </a:t>
            </a:r>
            <a:r>
              <a:rPr lang="en-GB" dirty="0" err="1"/>
              <a:t>matlab</a:t>
            </a:r>
            <a:r>
              <a:rPr lang="en-GB" dirty="0"/>
              <a:t> and inbuilt to system and </a:t>
            </a:r>
            <a:r>
              <a:rPr lang="en-GB" dirty="0" err="1"/>
              <a:t>df</a:t>
            </a:r>
            <a:r>
              <a:rPr lang="en-GB" dirty="0"/>
              <a:t> within pandas – library within </a:t>
            </a:r>
            <a:r>
              <a:rPr lang="en-GB" dirty="0" err="1"/>
              <a:t>py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196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CE419-E8D4-6341-68F0-A8AC2FB7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CBB39-D442-55AB-90AB-DC8A34738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FECFE-D91D-D84D-0E69-786F99589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</a:t>
            </a:r>
            <a:r>
              <a:rPr lang="en-GB" dirty="0" err="1"/>
              <a:t>sql</a:t>
            </a:r>
            <a:r>
              <a:rPr lang="en-GB" dirty="0"/>
              <a:t>, queries and databases from basics. DBs need columns and rows,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A2416-8A81-0BA8-B541-84B4E5319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996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back to basics with </a:t>
            </a:r>
            <a:r>
              <a:rPr lang="en-GB" dirty="0" err="1"/>
              <a:t>sql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203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BA3D-96D2-0281-7440-86CAD526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D8BE8-35DD-8ADE-D84A-BA05FB35F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DF17F-B4F9-ACC0-673F-AD24FB6C6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IAM priorities, principle of minimum </a:t>
            </a:r>
            <a:r>
              <a:rPr lang="en-GB" dirty="0" err="1"/>
              <a:t>permisions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D9D8E-79FA-C47D-D7C7-933EF236E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449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about cyber risks and mitigations, explain hashing, one way but also 121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6468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AWS, MS azure, google cloud</a:t>
            </a:r>
          </a:p>
          <a:p>
            <a:r>
              <a:rPr lang="en-GB" dirty="0"/>
              <a:t>Explain data lakes, processing and </a:t>
            </a:r>
            <a:r>
              <a:rPr lang="en-GB" dirty="0" err="1"/>
              <a:t>lakehouses</a:t>
            </a: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AFD12-1E4E-4617-8E8E-CA9DFEDE521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20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DF5E-5D80-9C66-1B3B-8B103F7BA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54033-6F91-DC10-4BEC-9D30349D6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1B62-C879-53B2-1AAC-C4532D6F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9D986-138F-B010-5BDE-58938C77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12697-C32E-4BBF-7F4A-814BCEAE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6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1B53-5518-8057-626F-67ED5D96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8A332-A5AD-4978-AFB1-A81ECF08E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2EE0D-024A-9A2D-F9F5-5D5EA299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95F86-757D-FC35-2396-0895C8DF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3E78A-CC65-2720-E5DD-F9196724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6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AD8E-87A2-ED41-C59F-1145C16F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4956A-4D52-C869-9C22-A614F5205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E146E-D511-74A6-9CF8-9DC39C73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8D02B-59AC-E3A8-ECD6-0858DEEB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1ED16-0B41-BD84-F168-33B6BE44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690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351A-DD6E-8093-79A2-E7C0414A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95E5C-AC1C-9E66-AA18-5F3CC2FA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EC869-AC41-F813-502E-524BB1066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75DB6-77FB-4941-5027-ABC439EC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C015B-3A68-B172-181F-BFD31C2D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935F5-9EEC-7078-48C7-A7D4290B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46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3D4A-F8E7-BE5A-D5F2-9774A26A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7C43B-1AD9-F1E1-6D75-0A756EEE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74259-4E9A-5FCD-1811-7B620C954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0D276-9B4B-D07E-16D3-4A91A779D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02E15-EB49-EB05-35A0-020A41DC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E7062-7BBA-1E3E-2353-E64C682D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59203-4DFA-B86E-CCC2-03AB568A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5D4CC3-6DA7-C817-3CEB-82232620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46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7CDE-7DE6-A4F2-C065-BB4CC6D1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4B213-BDEC-4664-F193-3DC41754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8E378-D30A-D9AD-8B55-ED0B07AF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6D5E5-88F1-9927-C058-C7E1BD5B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0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668EE-4C65-BB63-2604-A36D0353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4A063-17E9-C06F-FD6B-DA1DF267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AE151-0AF4-3840-95E1-29726491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36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B63D5-5783-D220-18DF-A39F9E61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F4C50-B257-4288-2201-A8CAF5BE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05345-8DE9-867D-5996-722F5146F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75229-05E9-1425-9AFA-D9EBCD56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7B790-D386-BFAF-18F6-D47F7DC2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1A289-5325-339F-3BA6-2D6D61AF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47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2429-D419-1434-AD99-1F3E5DEC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F370B-1ED0-023F-1E93-4250ACBF0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696F7-B127-1E34-79D8-72E8F0307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A5DCB-ED4A-9C28-1DB7-11520DF1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90B26-517F-A650-B168-E7F362CF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96E8-E5CE-FDAA-8A72-9224E9CE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84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7D35-DC16-3E86-5149-886B6A0F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7B374-0539-D034-2615-C09D6311B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99F46-0202-6D62-C5EC-31E8F4F8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B3645-19F2-927F-A50D-9168CCCA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54191-C66C-481D-E65A-3D578577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61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86E7F7-BBBC-440B-8C3A-4BE7AD4A0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BB22E-868E-8AC3-D144-8B40D5489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DAA57-2D9D-7373-EE13-E000DB7D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9DBF-B1D8-560A-070E-01187811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DA232-491C-BE91-1513-87E06909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45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71A1A-905A-080B-1A0D-9F2D4B92E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25B38-997F-C9DC-C823-947EAF75B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CED14-B2F8-C8A7-20C0-9D76C1B28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8AA1A-8DAE-4E2E-BF2C-E948D8EBAA6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5C3A7-46D6-3FB6-A5DA-5820ED912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28189-B28F-2FD7-D5BA-CBDADCFC7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D0335-0E35-471B-BECA-8E47F98EDB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35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79FF-71AD-1A1E-4146-6037BC0C4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Engineering and Management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34957AE-1D79-F93E-A982-4C8AC6EA6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workshop within the Data-Centric </a:t>
            </a:r>
            <a:r>
              <a:rPr lang="en-GB"/>
              <a:t>Engineering scheme</a:t>
            </a:r>
          </a:p>
        </p:txBody>
      </p:sp>
    </p:spTree>
    <p:extLst>
      <p:ext uri="{BB962C8B-B14F-4D97-AF65-F5344CB8AC3E}">
        <p14:creationId xmlns:p14="http://schemas.microsoft.com/office/powerpoint/2010/main" val="421590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EBEF-4B45-DE39-0DCD-B41E50CC5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Versioning for Data-Centric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0BE02-BA78-5A9B-94B4-331CCB0D7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uses and benefits of versioning to help with DCE</a:t>
            </a:r>
          </a:p>
        </p:txBody>
      </p:sp>
    </p:spTree>
    <p:extLst>
      <p:ext uri="{BB962C8B-B14F-4D97-AF65-F5344CB8AC3E}">
        <p14:creationId xmlns:p14="http://schemas.microsoft.com/office/powerpoint/2010/main" val="111334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C072-8DA5-C39F-FE6A-EBE5A1D2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problem: </a:t>
            </a:r>
            <a:br>
              <a:rPr lang="en-GB" dirty="0"/>
            </a:br>
            <a:r>
              <a:rPr lang="en-GB" dirty="0"/>
              <a:t>Final_this_oneFINAL_v3.py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FC35-E1D9-57C6-5B08-CAFB9436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Script evolution is an iterative process</a:t>
            </a:r>
          </a:p>
          <a:p>
            <a:r>
              <a:rPr lang="en-GB" dirty="0"/>
              <a:t>Versioning software’s such as git provides a solution that can track and manage changes </a:t>
            </a:r>
          </a:p>
        </p:txBody>
      </p:sp>
    </p:spTree>
    <p:extLst>
      <p:ext uri="{BB962C8B-B14F-4D97-AF65-F5344CB8AC3E}">
        <p14:creationId xmlns:p14="http://schemas.microsoft.com/office/powerpoint/2010/main" val="391968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FDB7-6D8A-44AE-B55F-B3BE0433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9FB0-2C72-1979-C3FD-81C9E052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Track file changes over time</a:t>
            </a:r>
          </a:p>
          <a:p>
            <a:r>
              <a:rPr lang="en-GB" dirty="0"/>
              <a:t>Records who changed what, when and why</a:t>
            </a:r>
          </a:p>
          <a:p>
            <a:r>
              <a:rPr lang="en-GB" dirty="0"/>
              <a:t>Maintains single source of truth</a:t>
            </a:r>
          </a:p>
          <a:p>
            <a:r>
              <a:rPr lang="en-GB" dirty="0"/>
              <a:t>Replaces manual file-duplication backups</a:t>
            </a:r>
          </a:p>
        </p:txBody>
      </p:sp>
    </p:spTree>
    <p:extLst>
      <p:ext uri="{BB962C8B-B14F-4D97-AF65-F5344CB8AC3E}">
        <p14:creationId xmlns:p14="http://schemas.microsoft.com/office/powerpoint/2010/main" val="172671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FE8F9-5FFF-6DF8-2160-BDAFB388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is versioning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D0E4-FBE0-B311-845C-03097E45C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Whenever you use Ctrl-Z</a:t>
            </a:r>
          </a:p>
          <a:p>
            <a:r>
              <a:rPr lang="en-GB" dirty="0"/>
              <a:t>Word etc.</a:t>
            </a:r>
          </a:p>
          <a:p>
            <a:r>
              <a:rPr lang="en-GB" dirty="0" err="1"/>
              <a:t>Solidworks</a:t>
            </a:r>
            <a:r>
              <a:rPr lang="en-GB" dirty="0"/>
              <a:t> Cloud, </a:t>
            </a:r>
            <a:r>
              <a:rPr lang="en-GB" dirty="0" err="1"/>
              <a:t>onShape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40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191A-C5BA-DAE5-D5DB-5F748F26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I want versioning?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C4C4-5303-2009-3617-F2395ADB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Cloud backup</a:t>
            </a:r>
          </a:p>
          <a:p>
            <a:r>
              <a:rPr lang="en-GB" dirty="0"/>
              <a:t>Easy experimentation through branching</a:t>
            </a:r>
          </a:p>
          <a:p>
            <a:r>
              <a:rPr lang="en-GB" dirty="0"/>
              <a:t>Instant recovery from breaking bugs</a:t>
            </a:r>
          </a:p>
          <a:p>
            <a:r>
              <a:rPr lang="en-GB" dirty="0"/>
              <a:t>Clear accountability and team collaboration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9357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B29E-EBF2-7DDE-3784-7BC7A482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snapshot/commit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B2FB2A-5AFC-B220-2CB1-70945F1CDF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A recorded state of an entire project at a moment in time</a:t>
            </a:r>
          </a:p>
          <a:p>
            <a:r>
              <a:rPr lang="en-GB" dirty="0"/>
              <a:t>Each commit comes with a message explaining what happened </a:t>
            </a:r>
          </a:p>
          <a:p>
            <a:r>
              <a:rPr lang="en-GB" dirty="0"/>
              <a:t>A continuous linked chain of history</a:t>
            </a:r>
          </a:p>
          <a:p>
            <a:endParaRPr lang="en-GB" dirty="0"/>
          </a:p>
        </p:txBody>
      </p:sp>
      <p:pic>
        <p:nvPicPr>
          <p:cNvPr id="1026" name="Picture 2" descr="Spy Photographing Noir Stock Photos - Free &amp; Royalty-Free Stock Photos from  Dreamstime">
            <a:extLst>
              <a:ext uri="{FF2B5EF4-FFF2-40B4-BE49-F238E27FC236}">
                <a16:creationId xmlns:a16="http://schemas.microsoft.com/office/drawing/2014/main" id="{9B40B7F7-D491-45B4-5E35-900941020DA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1935"/>
            <a:ext cx="5181600" cy="345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4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FFF2-2905-4FA6-3A4E-4312544F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7EF3-F5F4-3FDD-E1FD-816C50B0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Software’s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12AA-00DE-1891-FB58-648008F46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(industry standard)</a:t>
            </a:r>
          </a:p>
          <a:p>
            <a:r>
              <a:rPr lang="en-GB" dirty="0"/>
              <a:t>Perforce / unity VC (for game development)</a:t>
            </a:r>
          </a:p>
          <a:p>
            <a:r>
              <a:rPr lang="en-GB" dirty="0"/>
              <a:t>SVN (legacy standard)</a:t>
            </a:r>
          </a:p>
          <a:p>
            <a:r>
              <a:rPr lang="en-GB" dirty="0" err="1"/>
              <a:t>OnShape</a:t>
            </a:r>
            <a:r>
              <a:rPr lang="en-GB" dirty="0"/>
              <a:t> (Cloud CAD)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1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ED99-3D32-2283-55E2-F8B0AE1C8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vs </a:t>
            </a:r>
            <a:r>
              <a:rPr lang="en-GB" dirty="0" err="1"/>
              <a:t>Github</a:t>
            </a:r>
            <a:endParaRPr lang="en-GB" dirty="0"/>
          </a:p>
        </p:txBody>
      </p:sp>
      <p:pic>
        <p:nvPicPr>
          <p:cNvPr id="1028" name="Picture 4" descr="Git(local repo) and GitHub (remote repo) | The Startup">
            <a:extLst>
              <a:ext uri="{FF2B5EF4-FFF2-40B4-BE49-F238E27FC236}">
                <a16:creationId xmlns:a16="http://schemas.microsoft.com/office/drawing/2014/main" id="{82388769-9C8F-1890-7C5F-59EDC2742C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56" y="1294683"/>
            <a:ext cx="773948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34DE6-E646-6A4B-343B-A81C9F81D399}"/>
              </a:ext>
            </a:extLst>
          </p:cNvPr>
          <p:cNvSpPr txBox="1"/>
          <p:nvPr/>
        </p:nvSpPr>
        <p:spPr>
          <a:xfrm>
            <a:off x="2536722" y="4586748"/>
            <a:ext cx="416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local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Used to track history and file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Takes snapshots (commits)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E5671-4127-3F52-C89D-F4E152685526}"/>
              </a:ext>
            </a:extLst>
          </p:cNvPr>
          <p:cNvSpPr txBox="1"/>
          <p:nvPr/>
        </p:nvSpPr>
        <p:spPr>
          <a:xfrm>
            <a:off x="6617110" y="4586748"/>
            <a:ext cx="5574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web-based hosting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Enables safe collaboration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Acts as a central backup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14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776A7D-257D-A576-3770-EB26D045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Git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1C4E47-D4DD-CB3A-EF82-23093F693A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You work as normal in your folder</a:t>
            </a:r>
          </a:p>
          <a:p>
            <a:r>
              <a:rPr lang="en-GB" dirty="0"/>
              <a:t>You can stage “good” changes to be committed</a:t>
            </a:r>
          </a:p>
          <a:p>
            <a:r>
              <a:rPr lang="en-GB" dirty="0"/>
              <a:t>You can commit your code to your repo for it to be used</a:t>
            </a:r>
          </a:p>
        </p:txBody>
      </p:sp>
      <p:pic>
        <p:nvPicPr>
          <p:cNvPr id="2052" name="Picture 4" descr="Git Serie: Part 1 Git Basics">
            <a:extLst>
              <a:ext uri="{FF2B5EF4-FFF2-40B4-BE49-F238E27FC236}">
                <a16:creationId xmlns:a16="http://schemas.microsoft.com/office/drawing/2014/main" id="{42F30C6E-0C2F-F033-9962-BB17C23D59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521" y="1926253"/>
            <a:ext cx="4510958" cy="415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323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78132-DF2F-5C46-8986-B1A4C32F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CLI (terminal)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6E4A-997F-5D8E-8812-AE9AC99B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Git </a:t>
            </a:r>
            <a:r>
              <a:rPr lang="en-GB" dirty="0" err="1">
                <a:latin typeface="Consolas" panose="020B0609020204030204" pitchFamily="49" charset="0"/>
              </a:rPr>
              <a:t>init</a:t>
            </a:r>
            <a:endParaRPr lang="en-GB" dirty="0">
              <a:latin typeface="Consolas" panose="020B0609020204030204" pitchFamily="49" charset="0"/>
            </a:endParaRPr>
          </a:p>
          <a:p>
            <a:pPr lvl="1"/>
            <a:r>
              <a:rPr lang="en-GB" dirty="0"/>
              <a:t>Ran in the root folder of a project </a:t>
            </a:r>
          </a:p>
          <a:p>
            <a:r>
              <a:rPr lang="en-GB" dirty="0">
                <a:latin typeface="Consolas" panose="020B0609020204030204" pitchFamily="49" charset="0"/>
              </a:rPr>
              <a:t>Git add .</a:t>
            </a:r>
          </a:p>
          <a:p>
            <a:pPr lvl="1"/>
            <a:r>
              <a:rPr lang="en-GB" dirty="0"/>
              <a:t>The . adds all changes into the current commit but this can be file specific</a:t>
            </a:r>
          </a:p>
          <a:p>
            <a:r>
              <a:rPr lang="en-GB" dirty="0">
                <a:latin typeface="Consolas" panose="020B0609020204030204" pitchFamily="49" charset="0"/>
              </a:rPr>
              <a:t>Git commit –m “&lt;message&gt;” </a:t>
            </a:r>
          </a:p>
          <a:p>
            <a:pPr lvl="1"/>
            <a:r>
              <a:rPr lang="en-GB" dirty="0"/>
              <a:t>This is how you take a “snapshot” of the code </a:t>
            </a:r>
          </a:p>
          <a:p>
            <a:r>
              <a:rPr lang="en-GB" dirty="0">
                <a:latin typeface="Consolas" panose="020B0609020204030204" pitchFamily="49" charset="0"/>
              </a:rPr>
              <a:t>Git push/pull</a:t>
            </a:r>
          </a:p>
          <a:p>
            <a:pPr lvl="1"/>
            <a:r>
              <a:rPr lang="en-GB" dirty="0"/>
              <a:t>Use this to sync your code with remote servers like </a:t>
            </a:r>
            <a:r>
              <a:rPr lang="en-GB" dirty="0" err="1"/>
              <a:t>github</a:t>
            </a:r>
            <a:r>
              <a:rPr lang="en-GB" dirty="0"/>
              <a:t> or </a:t>
            </a:r>
            <a:r>
              <a:rPr lang="en-GB" dirty="0" err="1"/>
              <a:t>gitlabs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477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36A3-79B6-CE74-4C8C-EABBFC4D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Commit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23B5-B9CC-D091-2D03-0EB383568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4" y="1825625"/>
            <a:ext cx="3664974" cy="26873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&lt;type&gt;[optional scope]: &lt;description&gt;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dirty="0"/>
              <a:t>[optional body]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dirty="0"/>
              <a:t>[optional footer(s)]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AB2D85-FA1D-9486-A749-05F470CDA0BB}"/>
              </a:ext>
            </a:extLst>
          </p:cNvPr>
          <p:cNvGraphicFramePr>
            <a:graphicFrameLocks noGrp="1"/>
          </p:cNvGraphicFramePr>
          <p:nvPr/>
        </p:nvGraphicFramePr>
        <p:xfrm>
          <a:off x="3988619" y="1366520"/>
          <a:ext cx="8127999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659">
                  <a:extLst>
                    <a:ext uri="{9D8B030D-6E8A-4147-A177-3AD203B41FA5}">
                      <a16:colId xmlns:a16="http://schemas.microsoft.com/office/drawing/2014/main" val="1390266875"/>
                    </a:ext>
                  </a:extLst>
                </a:gridCol>
                <a:gridCol w="4324007">
                  <a:extLst>
                    <a:ext uri="{9D8B030D-6E8A-4147-A177-3AD203B41FA5}">
                      <a16:colId xmlns:a16="http://schemas.microsoft.com/office/drawing/2014/main" val="1472806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72936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When to use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336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new feature or capability added to the codebase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Feat(auth): add OAuth2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27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bug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Fix(solver): resolve matrix convergence crash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84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Documentation-only changes (README, wiki, comments)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Docs: update setup instructions to README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54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code change that neither fixes a bug or adds a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Refactor: simplify mesh generation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07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code change that improves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Perf: vectorize distance calculation 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6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Routine tasks, build tracking or dependency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Chore: bump </a:t>
                      </a:r>
                      <a:r>
                        <a:rPr lang="en-GB" dirty="0" err="1"/>
                        <a:t>numpy</a:t>
                      </a:r>
                      <a:r>
                        <a:rPr lang="en-GB" dirty="0"/>
                        <a:t> version to 1.26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97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Changes made to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Test: add unit tests for boundary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72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Changes made to CI config files and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Ci: fix GitHub actions workflow 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26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129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F6C0-F52C-6DD8-FF78-3C10B792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8FBEF-AF23-3A50-68DF-D050CA70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Branching creates a safe, parallel workspace in your project where you can experiment with new code or features without breaking your main, working version.</a:t>
            </a:r>
          </a:p>
        </p:txBody>
      </p:sp>
      <p:pic>
        <p:nvPicPr>
          <p:cNvPr id="4098" name="Picture 2" descr="Branching Strategies for The Development Teams | by A Passionate Programmer  - A Technology Enthusiast | Javarevisited | Medium">
            <a:extLst>
              <a:ext uri="{FF2B5EF4-FFF2-40B4-BE49-F238E27FC236}">
                <a16:creationId xmlns:a16="http://schemas.microsoft.com/office/drawing/2014/main" id="{C5DF65EF-F9C8-4025-8906-8A39F2077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" t="2362" r="6233" b="10073"/>
          <a:stretch>
            <a:fillRect/>
          </a:stretch>
        </p:blipFill>
        <p:spPr bwMode="auto">
          <a:xfrm>
            <a:off x="6096000" y="2865450"/>
            <a:ext cx="5437238" cy="362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3D58C5-8242-8D20-E680-D0D70EB842A4}"/>
              </a:ext>
            </a:extLst>
          </p:cNvPr>
          <p:cNvSpPr txBox="1"/>
          <p:nvPr/>
        </p:nvSpPr>
        <p:spPr>
          <a:xfrm>
            <a:off x="1113503" y="3126659"/>
            <a:ext cx="3841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branch &lt;name&gt;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Create a branch to 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branch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See all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merge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Merge your changes to another branch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704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B54D-8CD8-9D95-54EA-A91CABB4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.</a:t>
            </a:r>
            <a:r>
              <a:rPr lang="en-GB" dirty="0" err="1"/>
              <a:t>gitignore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C5BD-2864-F03D-22FF-CB9C5AA1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408174" cy="4351338"/>
          </a:xfrm>
        </p:spPr>
        <p:txBody>
          <a:bodyPr/>
          <a:lstStyle/>
          <a:p>
            <a:r>
              <a:rPr lang="en-GB" dirty="0"/>
              <a:t>Not everything needs to be tracked in git</a:t>
            </a:r>
          </a:p>
          <a:p>
            <a:r>
              <a:rPr lang="en-GB" dirty="0"/>
              <a:t>Files above 100MB should be avoided</a:t>
            </a:r>
          </a:p>
          <a:p>
            <a:r>
              <a:rPr lang="en-GB" dirty="0"/>
              <a:t>Large or unnecessary files shouldn’t be included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AD431-1AEB-A958-C990-2B20B96DA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76" y="1321085"/>
            <a:ext cx="4277954" cy="504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08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A3E5-A7BA-70AD-0A80-6C9FEF0B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Large File Storage (LFS)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3453-CCE1-4556-AFA2-76E98B61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LFS swaps heavy files in your local project folder with tiny 130-byte text metadata pointers.</a:t>
            </a:r>
          </a:p>
          <a:p>
            <a:r>
              <a:rPr lang="en-GB" dirty="0"/>
              <a:t>When pushing your work, the actual binary gets redirected straight to LFS storage servers, bypassing Git's core history.</a:t>
            </a:r>
          </a:p>
          <a:p>
            <a:endParaRPr lang="en-GB" dirty="0"/>
          </a:p>
        </p:txBody>
      </p:sp>
      <p:pic>
        <p:nvPicPr>
          <p:cNvPr id="5122" name="Picture 2" descr="Git Large File Storage | Git Large File Storage (LFS) replaces large files  such as audio samples, videos, datasets, and graphics with text pointers  inside Git, while storing the file contents on">
            <a:extLst>
              <a:ext uri="{FF2B5EF4-FFF2-40B4-BE49-F238E27FC236}">
                <a16:creationId xmlns:a16="http://schemas.microsoft.com/office/drawing/2014/main" id="{7E947D75-F7EC-DB20-1C43-4200F209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658" y="3613834"/>
            <a:ext cx="5938684" cy="311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71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E811-04FE-5FC2-43F2-7818F506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Version Control (DVC)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774F-B021-3930-2EA0-9BFBA9FF4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DVC tracks massive datasets and neural network weights by generating tiny human-readable tracked .</a:t>
            </a:r>
            <a:r>
              <a:rPr lang="en-GB" dirty="0" err="1"/>
              <a:t>dvc</a:t>
            </a:r>
            <a:r>
              <a:rPr lang="en-GB" dirty="0"/>
              <a:t> metafiles.</a:t>
            </a:r>
          </a:p>
          <a:p>
            <a:r>
              <a:rPr lang="en-GB" dirty="0"/>
              <a:t>The actual multi-gigabyte binaries are seamlessly pushed to central cloud buckets (S3, Google Cloud Storage, Azure).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04740-9C65-12C0-E85A-F9228AD32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3" t="9083" r="6283" b="9371"/>
          <a:stretch>
            <a:fillRect/>
          </a:stretch>
        </p:blipFill>
        <p:spPr>
          <a:xfrm>
            <a:off x="3431457" y="3524196"/>
            <a:ext cx="5329086" cy="318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48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9680-C695-3182-FE68-CDACE9DA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LFS vs DVC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8473D3-A56B-FB41-2C6D-D37C87527D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69422117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660072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0420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Git LFS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DVC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3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Primary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Large files (binaries)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Datasets, models, pipelines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52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Cloud agnostic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Requires LFS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Works with S3, Azure, etc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3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Pipeline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Strong dependency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Set and forget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Additional ClI tool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9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748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FC00-CAAF-2A18-04F1-47A3C4CC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can you use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517C-5661-0924-E06C-8F75C1606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time-saver</a:t>
            </a:r>
          </a:p>
          <a:p>
            <a:r>
              <a:rPr lang="en-GB" dirty="0"/>
              <a:t>A cloud backup</a:t>
            </a:r>
          </a:p>
          <a:p>
            <a:r>
              <a:rPr lang="en-GB" dirty="0"/>
              <a:t>A problem solver</a:t>
            </a:r>
          </a:p>
          <a:p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38535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CFC5-010A-2175-67AD-E3ABDE20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1715-858F-4E03-4395-DCD35E803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is like a time machine</a:t>
            </a:r>
          </a:p>
          <a:p>
            <a:r>
              <a:rPr lang="en-GB" dirty="0"/>
              <a:t>Commit small and commit often</a:t>
            </a:r>
          </a:p>
          <a:p>
            <a:r>
              <a:rPr lang="en-GB" dirty="0"/>
              <a:t>Write useful commit messages</a:t>
            </a:r>
          </a:p>
          <a:p>
            <a:r>
              <a:rPr lang="en-GB" dirty="0"/>
              <a:t>Never panic, almost everything in git can be undone and it can always save your bacon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5400" dirty="0"/>
              <a:t>Any Questions??</a:t>
            </a:r>
          </a:p>
        </p:txBody>
      </p:sp>
    </p:spTree>
    <p:extLst>
      <p:ext uri="{BB962C8B-B14F-4D97-AF65-F5344CB8AC3E}">
        <p14:creationId xmlns:p14="http://schemas.microsoft.com/office/powerpoint/2010/main" val="838054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82FE-766E-D764-ACB2-47150F0AA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Engineering and Management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A1C7E95-FA2F-E0E4-BEE2-45BE29E00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How to deal with data as a good engineer</a:t>
            </a:r>
          </a:p>
        </p:txBody>
      </p:sp>
    </p:spTree>
    <p:extLst>
      <p:ext uri="{BB962C8B-B14F-4D97-AF65-F5344CB8AC3E}">
        <p14:creationId xmlns:p14="http://schemas.microsoft.com/office/powerpoint/2010/main" val="2717452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0417-AE1D-0733-5FB3-B2AB553D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Download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F100-D44F-A8E0-33D1-87B5EBC6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git clone https://github.com/JFrusher/DCE-code-workshops.git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cd DCE-code-workshops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pip install -r requirements.txt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5220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06AF-C903-853D-CDE1-34C88598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Data Engineering and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7B6A-3211-D672-708C-7DAA51082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handling</a:t>
            </a:r>
          </a:p>
          <a:p>
            <a:r>
              <a:rPr lang="en-GB" dirty="0"/>
              <a:t>Data cleaning</a:t>
            </a:r>
          </a:p>
          <a:p>
            <a:r>
              <a:rPr lang="en-GB" dirty="0"/>
              <a:t>Data ingestion and architecture</a:t>
            </a:r>
          </a:p>
          <a:p>
            <a:r>
              <a:rPr lang="en-GB" dirty="0"/>
              <a:t>Data structuring</a:t>
            </a:r>
          </a:p>
          <a:p>
            <a:r>
              <a:rPr lang="en-GB" dirty="0"/>
              <a:t>Governance, security and ethics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4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2F99-0EA8-8B7F-EA55-4557DB78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9EA7-D6CD-7D93-F342-E04CB24CB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Stored in raw bites like 0100001</a:t>
            </a:r>
          </a:p>
          <a:p>
            <a:r>
              <a:rPr lang="en-GB" dirty="0"/>
              <a:t>65, A, a little bit red – encoding standards</a:t>
            </a:r>
          </a:p>
          <a:p>
            <a:r>
              <a:rPr lang="en-GB" dirty="0"/>
              <a:t>Stored in RAM for temporary use</a:t>
            </a:r>
          </a:p>
          <a:p>
            <a:r>
              <a:rPr lang="en-GB" dirty="0"/>
              <a:t>Permanently stored in non-volatile storage such as hard drives or SSDs</a:t>
            </a:r>
          </a:p>
          <a:p>
            <a:r>
              <a:rPr lang="en-GB" dirty="0"/>
              <a:t>Structured storage such as databases, semi-structured like emails, or unstructured like JPEGs, </a:t>
            </a:r>
            <a:r>
              <a:rPr lang="en-GB" dirty="0" err="1"/>
              <a:t>PDFs,etc</a:t>
            </a:r>
            <a:endParaRPr lang="en-GB" dirty="0"/>
          </a:p>
          <a:p>
            <a:r>
              <a:rPr lang="en-GB" dirty="0"/>
              <a:t>Pixel based vs character based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91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0A38-A174-EA32-3D87-917766EC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Happens to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5090F-1E73-7C46-A31B-8D86A427F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GB" dirty="0"/>
              <a:t>Loading</a:t>
            </a:r>
          </a:p>
          <a:p>
            <a:pPr lvl="1"/>
            <a:r>
              <a:rPr lang="en-GB" dirty="0"/>
              <a:t>Batch processing</a:t>
            </a:r>
          </a:p>
          <a:p>
            <a:pPr lvl="1"/>
            <a:r>
              <a:rPr lang="en-GB" dirty="0"/>
              <a:t>Stream processing</a:t>
            </a:r>
          </a:p>
          <a:p>
            <a:r>
              <a:rPr lang="en-GB" dirty="0"/>
              <a:t>Cleaning</a:t>
            </a:r>
          </a:p>
          <a:p>
            <a:pPr lvl="1"/>
            <a:r>
              <a:rPr lang="en-GB" dirty="0"/>
              <a:t>Parsing</a:t>
            </a:r>
          </a:p>
          <a:p>
            <a:pPr lvl="1"/>
            <a:r>
              <a:rPr lang="en-GB" dirty="0"/>
              <a:t>Filtering</a:t>
            </a:r>
          </a:p>
          <a:p>
            <a:pPr lvl="1"/>
            <a:r>
              <a:rPr lang="en-GB" dirty="0"/>
              <a:t>Anonymizing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Storing</a:t>
            </a:r>
          </a:p>
          <a:p>
            <a:pPr lvl="1"/>
            <a:r>
              <a:rPr lang="en-GB" dirty="0"/>
              <a:t>Data lakes</a:t>
            </a:r>
          </a:p>
          <a:p>
            <a:pPr lvl="1"/>
            <a:r>
              <a:rPr lang="en-GB" dirty="0"/>
              <a:t>Databases</a:t>
            </a:r>
          </a:p>
          <a:p>
            <a:pPr lvl="1"/>
            <a:r>
              <a:rPr lang="en-GB" dirty="0"/>
              <a:t>RAM</a:t>
            </a:r>
          </a:p>
          <a:p>
            <a:r>
              <a:rPr lang="en-GB" dirty="0"/>
              <a:t>Using</a:t>
            </a:r>
          </a:p>
          <a:p>
            <a:pPr lvl="1"/>
            <a:r>
              <a:rPr lang="en-GB" dirty="0"/>
              <a:t>Analytics</a:t>
            </a:r>
          </a:p>
          <a:p>
            <a:pPr lvl="1"/>
            <a:r>
              <a:rPr lang="en-GB" dirty="0"/>
              <a:t>Machine learning</a:t>
            </a:r>
          </a:p>
          <a:p>
            <a:pPr lvl="1"/>
            <a:r>
              <a:rPr lang="en-GB" dirty="0"/>
              <a:t>Application serving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7471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F576-A013-A745-3D3E-CD17B16B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AA7C-83AA-0E40-C384-BFAFD6ADC3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 charity called Legs </a:t>
            </a:r>
            <a:r>
              <a:rPr lang="en-GB" dirty="0" err="1"/>
              <a:t>Legs</a:t>
            </a:r>
            <a:r>
              <a:rPr lang="en-GB" dirty="0"/>
              <a:t> </a:t>
            </a:r>
            <a:r>
              <a:rPr lang="en-GB" dirty="0" err="1"/>
              <a:t>Legs</a:t>
            </a:r>
            <a:r>
              <a:rPr lang="en-GB" dirty="0"/>
              <a:t> has provided you with some data they got from patient forms about prosthetic implantations, but the data is messy and you need to fix it before returning it to them.</a:t>
            </a:r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ACCEB6-F512-E7BE-21F0-762B6EF8AC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5818" t="20132" r="25849" b="21700"/>
          <a:stretch>
            <a:fillRect/>
          </a:stretch>
        </p:blipFill>
        <p:spPr>
          <a:xfrm>
            <a:off x="6405896" y="2452723"/>
            <a:ext cx="4714207" cy="309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3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4F3D-6BA4-33D6-A9C7-4C9E0193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Collection -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9FEEC-1EEE-4788-83C4-83CD752C7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Physical sensor and industrial telemetry</a:t>
            </a:r>
          </a:p>
          <a:p>
            <a:pPr lvl="1"/>
            <a:r>
              <a:rPr lang="en-GB" dirty="0"/>
              <a:t>Mechanical sensors</a:t>
            </a:r>
          </a:p>
          <a:p>
            <a:pPr lvl="1"/>
            <a:r>
              <a:rPr lang="en-GB" dirty="0"/>
              <a:t>Thermal sensors</a:t>
            </a:r>
          </a:p>
          <a:p>
            <a:pPr lvl="1"/>
            <a:r>
              <a:rPr lang="en-GB" dirty="0"/>
              <a:t>Fluid sensors</a:t>
            </a:r>
          </a:p>
          <a:p>
            <a:pPr lvl="1"/>
            <a:r>
              <a:rPr lang="en-GB" dirty="0"/>
              <a:t>Biomedical sensors</a:t>
            </a:r>
          </a:p>
          <a:p>
            <a:r>
              <a:rPr lang="en-GB" sz="2400" dirty="0"/>
              <a:t>Human-input and form-based systems</a:t>
            </a:r>
          </a:p>
          <a:p>
            <a:pPr lvl="1"/>
            <a:r>
              <a:rPr lang="en-GB" dirty="0"/>
              <a:t>Google forms</a:t>
            </a:r>
          </a:p>
          <a:p>
            <a:pPr lvl="1"/>
            <a:r>
              <a:rPr lang="en-GB" dirty="0"/>
              <a:t>Manual logged data</a:t>
            </a:r>
          </a:p>
          <a:p>
            <a:r>
              <a:rPr lang="en-GB" sz="2400" dirty="0"/>
              <a:t>Software Logs</a:t>
            </a:r>
          </a:p>
          <a:p>
            <a:r>
              <a:rPr lang="en-GB" sz="2400" dirty="0"/>
              <a:t>Geospatial &amp; environmental sensing</a:t>
            </a:r>
          </a:p>
          <a:p>
            <a:r>
              <a:rPr lang="en-GB" sz="2400" dirty="0"/>
              <a:t>Digital twin or emulated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568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F2E1-893B-2951-29BC-1E4720B1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A57E-04A1-12E7-6203-AE829B754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automated software system that moves raw data from one or more sources, transforms it into a usable state and delivers it to a destination for storage, analysis or action</a:t>
            </a:r>
          </a:p>
          <a:p>
            <a:endParaRPr lang="en-GB" dirty="0"/>
          </a:p>
        </p:txBody>
      </p:sp>
      <p:pic>
        <p:nvPicPr>
          <p:cNvPr id="5" name="Picture 4" descr="What are Data Pipelines? | Cribl">
            <a:extLst>
              <a:ext uri="{FF2B5EF4-FFF2-40B4-BE49-F238E27FC236}">
                <a16:creationId xmlns:a16="http://schemas.microsoft.com/office/drawing/2014/main" id="{E997EA7F-E92F-251B-FC3A-D85163DEF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42" y="3351418"/>
            <a:ext cx="5948516" cy="282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99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FFBF-287D-C7C6-AA4E-FF232033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13A8A-DF69-B9EA-E2A7-FC46AD2A41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ETL (Extract, Transform, Load)</a:t>
            </a:r>
          </a:p>
          <a:p>
            <a:r>
              <a:rPr lang="en-GB" dirty="0"/>
              <a:t>Cleaned before storage</a:t>
            </a:r>
          </a:p>
          <a:p>
            <a:r>
              <a:rPr lang="en-GB" dirty="0"/>
              <a:t>Strips sensitive data early</a:t>
            </a:r>
          </a:p>
          <a:p>
            <a:r>
              <a:rPr lang="en-GB" dirty="0"/>
              <a:t>Rigid schema structure</a:t>
            </a:r>
          </a:p>
          <a:p>
            <a:r>
              <a:rPr lang="en-GB" dirty="0"/>
              <a:t>Filters out noise</a:t>
            </a:r>
          </a:p>
          <a:p>
            <a:r>
              <a:rPr lang="en-GB" dirty="0"/>
              <a:t>Best for regulated data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440CC-FD21-4A37-ED84-BF3867AC3F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ELT (Extract , Load, Transform)</a:t>
            </a:r>
          </a:p>
          <a:p>
            <a:r>
              <a:rPr lang="en-GB" dirty="0"/>
              <a:t>Cleaned after data loading</a:t>
            </a:r>
          </a:p>
          <a:p>
            <a:r>
              <a:rPr lang="en-GB" dirty="0"/>
              <a:t>Downstream privacy controls required</a:t>
            </a:r>
          </a:p>
          <a:p>
            <a:r>
              <a:rPr lang="en-GB" dirty="0"/>
              <a:t>Flexible schema</a:t>
            </a:r>
          </a:p>
          <a:p>
            <a:r>
              <a:rPr lang="en-GB" dirty="0"/>
              <a:t>Retains raw telemetry</a:t>
            </a:r>
          </a:p>
          <a:p>
            <a:r>
              <a:rPr lang="en-GB" dirty="0"/>
              <a:t>Best for fast IoT streams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4831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0D35-8C15-0D3F-B1D5-A7EE2C14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7171-7D95-DA4F-7C73-0C1C4935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Pipelines -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E858-07DC-93B5-7DEC-405BF15EA0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ETL (Extract, Transform, Load)</a:t>
            </a:r>
          </a:p>
          <a:p>
            <a:r>
              <a:rPr lang="en-GB" dirty="0"/>
              <a:t>Essential for handling sensitive, regulated datasets like patient forms</a:t>
            </a:r>
          </a:p>
          <a:p>
            <a:r>
              <a:rPr lang="en-GB" dirty="0"/>
              <a:t>Sensitive attributes and identifiers are transformed or omitted before storage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F7061-C91A-A5AC-E749-5346765380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ELT (Extract , Load, Transform)</a:t>
            </a:r>
          </a:p>
          <a:p>
            <a:r>
              <a:rPr lang="en-GB" dirty="0"/>
              <a:t>Loads raw non-anonymised telemetry directly into data lakes – high speed</a:t>
            </a:r>
          </a:p>
          <a:p>
            <a:r>
              <a:rPr lang="en-GB" dirty="0"/>
              <a:t>Mandates strict row-and-column access controls to guarantee data isolation prior to transformation.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8839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FA79-D03B-5141-6459-69090F09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7E24-F652-1B70-3327-D3780B84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do we clean data?</a:t>
            </a:r>
          </a:p>
        </p:txBody>
      </p:sp>
      <p:pic>
        <p:nvPicPr>
          <p:cNvPr id="5" name="Picture 4" descr="Data Cleaning Essentials with SQL">
            <a:extLst>
              <a:ext uri="{FF2B5EF4-FFF2-40B4-BE49-F238E27FC236}">
                <a16:creationId xmlns:a16="http://schemas.microsoft.com/office/drawing/2014/main" id="{0DE6F809-E488-4056-BB87-4DE40E989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87" y="1871663"/>
            <a:ext cx="64579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15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E84D-7354-E224-21E9-A4D2DA51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 dirty="0"/>
              <a:t>Data Cleaning –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B0680-8D8B-A7DD-58CB-D6A75AD9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Nulls, </a:t>
            </a:r>
            <a:r>
              <a:rPr lang="en-GB" dirty="0" err="1"/>
              <a:t>NaNs</a:t>
            </a:r>
            <a:r>
              <a:rPr lang="en-GB" dirty="0"/>
              <a:t>, Blanks </a:t>
            </a:r>
          </a:p>
          <a:p>
            <a:r>
              <a:rPr lang="en-GB" dirty="0"/>
              <a:t>Dealt with by either dropping rows or using imputation</a:t>
            </a:r>
          </a:p>
          <a:p>
            <a:r>
              <a:rPr lang="en-GB" dirty="0"/>
              <a:t>Statistical Imputation</a:t>
            </a:r>
          </a:p>
          <a:p>
            <a:pPr lvl="1"/>
            <a:r>
              <a:rPr lang="en-GB" dirty="0"/>
              <a:t>Filling blanks with either the columns mean( for normally distributed numbers), median (if data is skewed) or a similar interpolation</a:t>
            </a:r>
          </a:p>
          <a:p>
            <a:r>
              <a:rPr lang="en-GB" dirty="0"/>
              <a:t>Time series Imputation</a:t>
            </a:r>
          </a:p>
          <a:p>
            <a:pPr lvl="1"/>
            <a:r>
              <a:rPr lang="en-GB" dirty="0"/>
              <a:t>For streaming sensor data, we use forward fill (</a:t>
            </a:r>
            <a:r>
              <a:rPr lang="en-GB" dirty="0" err="1"/>
              <a:t>Ffill</a:t>
            </a:r>
            <a:r>
              <a:rPr lang="en-GB" dirty="0"/>
              <a:t>) which carries the last good reading forward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875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3A4F-FA75-EFD0-7831-275C15BA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Data cleaning - Inconsistencies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9810A-6346-9182-4B9A-92ACEF93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String harmonization</a:t>
            </a:r>
          </a:p>
          <a:p>
            <a:r>
              <a:rPr lang="en-GB" dirty="0"/>
              <a:t>Strings are systematically forced to lowercase and stripped of trailing spaces: .</a:t>
            </a:r>
            <a:r>
              <a:rPr lang="en-GB" dirty="0" err="1"/>
              <a:t>str.lower</a:t>
            </a:r>
            <a:r>
              <a:rPr lang="en-GB" dirty="0"/>
              <a:t>().</a:t>
            </a:r>
            <a:r>
              <a:rPr lang="en-GB" dirty="0" err="1"/>
              <a:t>str.strip</a:t>
            </a:r>
            <a:r>
              <a:rPr lang="en-GB" dirty="0"/>
              <a:t>()</a:t>
            </a:r>
          </a:p>
          <a:p>
            <a:r>
              <a:rPr lang="en-GB" dirty="0"/>
              <a:t>Regex stripping can remove textual noise (May 12th 2024 </a:t>
            </a:r>
            <a:r>
              <a:rPr lang="en-GB" dirty="0">
                <a:sym typeface="Wingdings" panose="05000000000000000000" pitchFamily="2" charset="2"/>
              </a:rPr>
              <a:t> May 12 2024)</a:t>
            </a:r>
          </a:p>
          <a:p>
            <a:r>
              <a:rPr lang="en-GB" dirty="0">
                <a:sym typeface="Wingdings" panose="05000000000000000000" pitchFamily="2" charset="2"/>
              </a:rPr>
              <a:t>Mixed Format Parsing Engines use smart parsers such as: </a:t>
            </a:r>
            <a:r>
              <a:rPr lang="en-GB" dirty="0" err="1"/>
              <a:t>pd.to_datetime</a:t>
            </a:r>
            <a:r>
              <a:rPr lang="en-GB" dirty="0"/>
              <a:t>(</a:t>
            </a:r>
            <a:r>
              <a:rPr lang="en-GB" dirty="0" err="1"/>
              <a:t>df</a:t>
            </a:r>
            <a:r>
              <a:rPr lang="en-GB" dirty="0"/>
              <a:t>['date'], format='mixed') to translate disparate strings into a unified standard, such as ISO 8601 (YYYY-MM-DD)</a:t>
            </a:r>
            <a:r>
              <a:rPr lang="en-GB" dirty="0">
                <a:sym typeface="Wingdings" panose="05000000000000000000" pitchFamily="2" charset="2"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47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C1CE-0B51-6A4D-4F3A-BE2F1326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Data Cleaning – Outliers, Noise and Spikes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3241-2743-E2B6-67C6-896034DC2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Domain-specific knowledge</a:t>
            </a:r>
          </a:p>
          <a:p>
            <a:pPr lvl="1"/>
            <a:r>
              <a:rPr lang="en-GB" dirty="0"/>
              <a:t>Apply hard limits based on engineering realities, any value outside the predicted range can be clipped or treated as Nan</a:t>
            </a:r>
          </a:p>
          <a:p>
            <a:r>
              <a:rPr lang="en-GB" dirty="0"/>
              <a:t>Statistical Filters</a:t>
            </a:r>
          </a:p>
          <a:p>
            <a:pPr lvl="1"/>
            <a:r>
              <a:rPr lang="en-GB" dirty="0"/>
              <a:t>Give the data a range of standard deviations from the average before a data point is treated as an outlier</a:t>
            </a:r>
          </a:p>
          <a:p>
            <a:r>
              <a:rPr lang="en-GB" dirty="0"/>
              <a:t>Rolling Filters</a:t>
            </a:r>
          </a:p>
          <a:p>
            <a:pPr lvl="1"/>
            <a:r>
              <a:rPr lang="en-GB" dirty="0"/>
              <a:t>For Noisy sensor streams it can be worth replacing each datapoint with the average of its local window (e.g. a 5 second window)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460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27288-0CBF-7AA7-1F99-1D1175E1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6F40-C724-608D-F521-F8F5AB0B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 dirty="0"/>
              <a:t>Data cleaning –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F5FE-6FF9-C1F9-9D33-2D647CAD7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 Automatically filling empty patient ages using standard column averages masks collector faults and biases demographics</a:t>
            </a:r>
          </a:p>
          <a:p>
            <a:r>
              <a:rPr lang="en-GB" dirty="0"/>
              <a:t>Harmonizing causes of amputation (e.g., standardizing text inputs) ensures minor patient groups stay visible</a:t>
            </a:r>
          </a:p>
        </p:txBody>
      </p:sp>
    </p:spTree>
    <p:extLst>
      <p:ext uri="{BB962C8B-B14F-4D97-AF65-F5344CB8AC3E}">
        <p14:creationId xmlns:p14="http://schemas.microsoft.com/office/powerpoint/2010/main" val="2554240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D04FB-BB3E-51FD-61C1-6763BE14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1FBFCA-AE9B-DC76-4E4A-99927EBB9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FB6F0-B8DD-CA46-6DC5-029BFAFE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How and why do we store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28355E-3590-209F-DDBB-E89432FC6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0DF28-5F08-7D8D-404D-22254B89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9AB10-7C28-9625-A9D2-6EAE16071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en-GB" sz="2400" dirty="0"/>
              <a:t>Volatile and Non-volatile storage</a:t>
            </a:r>
          </a:p>
          <a:p>
            <a:pPr lvl="1"/>
            <a:r>
              <a:rPr lang="en-GB" sz="2000" dirty="0"/>
              <a:t>Latency</a:t>
            </a:r>
          </a:p>
          <a:p>
            <a:pPr lvl="1"/>
            <a:r>
              <a:rPr lang="en-GB" sz="2000" dirty="0"/>
              <a:t>Throughput</a:t>
            </a:r>
          </a:p>
          <a:p>
            <a:pPr lvl="1"/>
            <a:r>
              <a:rPr lang="en-GB" sz="2000" dirty="0"/>
              <a:t>Capacity</a:t>
            </a:r>
          </a:p>
          <a:p>
            <a:pPr lvl="1"/>
            <a:r>
              <a:rPr lang="en-GB" sz="2000" dirty="0"/>
              <a:t>Persistence</a:t>
            </a:r>
          </a:p>
          <a:p>
            <a:r>
              <a:rPr lang="en-GB" sz="2400" dirty="0"/>
              <a:t>We store data to manage State or the current condition of a system or application at any given moment</a:t>
            </a:r>
          </a:p>
        </p:txBody>
      </p:sp>
    </p:spTree>
    <p:extLst>
      <p:ext uri="{BB962C8B-B14F-4D97-AF65-F5344CB8AC3E}">
        <p14:creationId xmlns:p14="http://schemas.microsoft.com/office/powerpoint/2010/main" val="2241233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F12D8-4B2C-2658-B855-C69D37BF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C613-F07A-05A5-E628-3D13595D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 dirty="0"/>
              <a:t>Plain text vs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8EBE5-A529-486D-0609-A4F7362D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2,147,483,647</a:t>
            </a:r>
          </a:p>
          <a:p>
            <a:r>
              <a:rPr lang="en-GB" dirty="0"/>
              <a:t>In plain text this is 00110010 00110001 00110100 00110111 00110100 00111000 00110011 00110110 00110100 00110111</a:t>
            </a:r>
          </a:p>
          <a:p>
            <a:r>
              <a:rPr lang="en-GB" dirty="0"/>
              <a:t>In a 4-bit signed integer this is 01111111 11111111 11111111 11111111</a:t>
            </a:r>
          </a:p>
          <a:p>
            <a:r>
              <a:rPr lang="en-GB" dirty="0"/>
              <a:t>A processor can’t do anything with the plain text number without converting it to an integer first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320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A503-8379-FFA9-D64C-491E26A7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Databases: In-memory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06EA-53CA-9F64-7E9F-711419EDB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CSV</a:t>
            </a:r>
          </a:p>
          <a:p>
            <a:pPr lvl="1"/>
            <a:r>
              <a:rPr lang="en-GB" dirty="0"/>
              <a:t>Plain text, comma separated table format</a:t>
            </a:r>
          </a:p>
          <a:p>
            <a:r>
              <a:rPr lang="en-GB" dirty="0"/>
              <a:t>.mat</a:t>
            </a:r>
          </a:p>
          <a:p>
            <a:pPr lvl="1"/>
            <a:r>
              <a:rPr lang="en-GB" dirty="0"/>
              <a:t>Binary format for multi-dimensional matrices</a:t>
            </a:r>
          </a:p>
          <a:p>
            <a:r>
              <a:rPr lang="en-GB" dirty="0" err="1"/>
              <a:t>DataFrames</a:t>
            </a:r>
            <a:endParaRPr lang="en-GB" dirty="0"/>
          </a:p>
          <a:p>
            <a:pPr lvl="1"/>
            <a:r>
              <a:rPr lang="en-GB" dirty="0"/>
              <a:t>An In-memory tabular programmatic structure</a:t>
            </a:r>
          </a:p>
        </p:txBody>
      </p:sp>
    </p:spTree>
    <p:extLst>
      <p:ext uri="{BB962C8B-B14F-4D97-AF65-F5344CB8AC3E}">
        <p14:creationId xmlns:p14="http://schemas.microsoft.com/office/powerpoint/2010/main" val="228904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831ED-C423-7470-9C60-138204E0E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D16E-CBDF-D5FE-2CEB-D603C5037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631AE-0D9C-D051-ACFB-BEB5B61A2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SQL</a:t>
            </a:r>
          </a:p>
          <a:p>
            <a:pPr lvl="1"/>
            <a:r>
              <a:rPr lang="en-GB" dirty="0"/>
              <a:t>SQL, PostgreSQL, SQLite</a:t>
            </a:r>
          </a:p>
          <a:p>
            <a:pPr lvl="1"/>
            <a:r>
              <a:rPr lang="en-GB" dirty="0"/>
              <a:t>Relational tables with rigid schemas</a:t>
            </a:r>
          </a:p>
          <a:p>
            <a:r>
              <a:rPr lang="en-GB" dirty="0"/>
              <a:t>NoSQL</a:t>
            </a:r>
          </a:p>
          <a:p>
            <a:pPr lvl="1"/>
            <a:r>
              <a:rPr lang="en-GB" dirty="0"/>
              <a:t>Flexible unstructured document storage</a:t>
            </a:r>
          </a:p>
          <a:p>
            <a:pPr lvl="1"/>
            <a:r>
              <a:rPr lang="en-GB" dirty="0"/>
              <a:t>Doesn’t need the same columns, scales horizontally</a:t>
            </a:r>
          </a:p>
          <a:p>
            <a:pPr lvl="1"/>
            <a:r>
              <a:rPr lang="en-GB" dirty="0"/>
              <a:t>Document store</a:t>
            </a:r>
          </a:p>
          <a:p>
            <a:r>
              <a:rPr lang="en-GB" dirty="0"/>
              <a:t>Queries</a:t>
            </a:r>
          </a:p>
          <a:p>
            <a:pPr lvl="1"/>
            <a:r>
              <a:rPr lang="en-GB" dirty="0"/>
              <a:t>SELECT, INSERT, UPDATE, DELETE</a:t>
            </a:r>
          </a:p>
          <a:p>
            <a:pPr lvl="1"/>
            <a:r>
              <a:rPr lang="en-GB" dirty="0"/>
              <a:t>SELECT column1, column2</a:t>
            </a:r>
            <a:br>
              <a:rPr lang="en-GB" dirty="0"/>
            </a:br>
            <a:r>
              <a:rPr lang="en-GB" dirty="0"/>
              <a:t>FROM </a:t>
            </a:r>
            <a:r>
              <a:rPr lang="en-GB" dirty="0" err="1"/>
              <a:t>table_name</a:t>
            </a:r>
            <a:br>
              <a:rPr lang="en-GB" dirty="0"/>
            </a:br>
            <a:r>
              <a:rPr lang="en-GB" dirty="0"/>
              <a:t>WHERE condition;</a:t>
            </a:r>
          </a:p>
          <a:p>
            <a:pPr lvl="1"/>
            <a:r>
              <a:rPr lang="en-GB" dirty="0"/>
              <a:t>ORDER BY, LIMIT</a:t>
            </a:r>
          </a:p>
        </p:txBody>
      </p:sp>
    </p:spTree>
    <p:extLst>
      <p:ext uri="{BB962C8B-B14F-4D97-AF65-F5344CB8AC3E}">
        <p14:creationId xmlns:p14="http://schemas.microsoft.com/office/powerpoint/2010/main" val="332610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7382-A16D-8760-F31B-D51D7DAC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Relational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887853-604C-4000-C0B2-6CB9AC264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dirty="0"/>
              <a:t> Organized in rows and columns</a:t>
            </a:r>
          </a:p>
          <a:p>
            <a:pPr lvl="0"/>
            <a:r>
              <a:rPr lang="en-US" altLang="en-US" dirty="0"/>
              <a:t> Connected using unique keys – keyed row</a:t>
            </a:r>
          </a:p>
          <a:p>
            <a:pPr lvl="0"/>
            <a:r>
              <a:rPr lang="en-US" altLang="en-US" dirty="0"/>
              <a:t> Strict, predefined structural schemas</a:t>
            </a:r>
          </a:p>
          <a:p>
            <a:pPr lvl="0"/>
            <a:r>
              <a:rPr lang="en-US" altLang="en-US" dirty="0"/>
              <a:t> Guarantees data consistency (ACID)</a:t>
            </a:r>
          </a:p>
          <a:p>
            <a:pPr lvl="0"/>
            <a:r>
              <a:rPr lang="en-US" altLang="en-US" dirty="0"/>
              <a:t> Queried using standard SQL</a:t>
            </a:r>
          </a:p>
        </p:txBody>
      </p:sp>
      <p:pic>
        <p:nvPicPr>
          <p:cNvPr id="3" name="Picture 2" descr="13 Relational data | R for Data Science">
            <a:extLst>
              <a:ext uri="{FF2B5EF4-FFF2-40B4-BE49-F238E27FC236}">
                <a16:creationId xmlns:a16="http://schemas.microsoft.com/office/drawing/2014/main" id="{0DD93EE2-6949-2631-A8F9-F2BB3A867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186" y="3222676"/>
            <a:ext cx="4688970" cy="295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77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6A784-454E-3612-903D-D1B1DD4A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EC03-BC4E-F0F4-0A5E-A17AB02D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 dirty="0"/>
              <a:t>Minimization via Relational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8E9D-2F97-8EA4-1EC0-61F9959ED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Relational databases enforce type safety and strict format validation at the database boundary.</a:t>
            </a:r>
          </a:p>
          <a:p>
            <a:r>
              <a:rPr lang="en-GB" dirty="0"/>
              <a:t>Separate clinical telemetry logs from asset metrics.</a:t>
            </a:r>
          </a:p>
          <a:p>
            <a:r>
              <a:rPr lang="en-GB" dirty="0"/>
              <a:t>Least privilege access</a:t>
            </a:r>
          </a:p>
          <a:p>
            <a:endParaRPr lang="en-GB" dirty="0"/>
          </a:p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2977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BF09-0AA1-8ACF-D747-13E833F0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Cyber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21AF-DC99-935D-A4A1-A2288FD6D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Python hashing anonymizes patient PII</a:t>
            </a:r>
          </a:p>
          <a:p>
            <a:pPr lvl="1"/>
            <a:r>
              <a:rPr lang="en-GB" dirty="0"/>
              <a:t>def </a:t>
            </a:r>
            <a:r>
              <a:rPr lang="en-GB" dirty="0" err="1"/>
              <a:t>anonymize_name</a:t>
            </a:r>
            <a:r>
              <a:rPr lang="en-GB" dirty="0"/>
              <a:t>(value):</a:t>
            </a:r>
          </a:p>
          <a:p>
            <a:pPr lvl="1"/>
            <a:r>
              <a:rPr lang="en-GB" dirty="0"/>
              <a:t> 	</a:t>
            </a:r>
            <a:r>
              <a:rPr lang="en-GB" dirty="0" err="1"/>
              <a:t>normalized_value</a:t>
            </a:r>
            <a:r>
              <a:rPr lang="en-GB" dirty="0"/>
              <a:t> = str(value).strip().lower()</a:t>
            </a:r>
          </a:p>
          <a:p>
            <a:pPr lvl="1"/>
            <a:r>
              <a:rPr lang="en-GB" dirty="0"/>
              <a:t>	return hashlib.sha256(</a:t>
            </a:r>
            <a:r>
              <a:rPr lang="en-GB" dirty="0" err="1"/>
              <a:t>normalized_value.encode</a:t>
            </a:r>
            <a:r>
              <a:rPr lang="en-GB" dirty="0"/>
              <a:t>('utf-8')).</a:t>
            </a:r>
            <a:r>
              <a:rPr lang="en-GB" dirty="0" err="1"/>
              <a:t>hexdigest</a:t>
            </a:r>
            <a:r>
              <a:rPr lang="en-GB" dirty="0"/>
              <a:t>()</a:t>
            </a:r>
          </a:p>
          <a:p>
            <a:r>
              <a:rPr lang="en-GB" dirty="0"/>
              <a:t>Encrypt data at rest/transit</a:t>
            </a:r>
          </a:p>
          <a:p>
            <a:r>
              <a:rPr lang="en-GB" dirty="0"/>
              <a:t>Strict role-based access control</a:t>
            </a:r>
          </a:p>
          <a:p>
            <a:r>
              <a:rPr lang="en-GB" dirty="0"/>
              <a:t>Collect only necessary data</a:t>
            </a:r>
          </a:p>
          <a:p>
            <a:r>
              <a:rPr lang="en-GB" dirty="0"/>
              <a:t>Maintain detailed audit logs</a:t>
            </a:r>
          </a:p>
          <a:p>
            <a:r>
              <a:rPr lang="en-GB" dirty="0"/>
              <a:t>Salt configuration patterns and dictionary mappings must be kept physically isolated to secure tokens against decryption attacks.</a:t>
            </a:r>
          </a:p>
          <a:p>
            <a:r>
              <a:rPr lang="en-GB" dirty="0"/>
              <a:t>BW COLOR XXX</a:t>
            </a:r>
          </a:p>
        </p:txBody>
      </p:sp>
    </p:spTree>
    <p:extLst>
      <p:ext uri="{BB962C8B-B14F-4D97-AF65-F5344CB8AC3E}">
        <p14:creationId xmlns:p14="http://schemas.microsoft.com/office/powerpoint/2010/main" val="4210732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172F-95CE-1597-D852-5F082A4E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9857-09AA-82E2-75E4-9B0BFAA83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Scalable storage for hosting raw data</a:t>
            </a:r>
          </a:p>
          <a:p>
            <a:r>
              <a:rPr lang="en-GB" dirty="0"/>
              <a:t>On-demand Processing power for transformations</a:t>
            </a:r>
          </a:p>
          <a:p>
            <a:r>
              <a:rPr lang="en-GB" dirty="0"/>
              <a:t>Separate compute and data lakes</a:t>
            </a:r>
          </a:p>
        </p:txBody>
      </p:sp>
      <p:pic>
        <p:nvPicPr>
          <p:cNvPr id="4" name="Picture 3" descr="Data Lake: Overview, Architecture, and Key Concepts | Decube">
            <a:extLst>
              <a:ext uri="{FF2B5EF4-FFF2-40B4-BE49-F238E27FC236}">
                <a16:creationId xmlns:a16="http://schemas.microsoft.com/office/drawing/2014/main" id="{4C5CFD1A-24D1-02A6-114D-2F25A359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613" y="2986581"/>
            <a:ext cx="4408097" cy="36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08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87F608-ADAC-43B4-3926-A4C6A4E2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DE73A-1619-9F70-8381-2739050F6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31952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7913</TotalTime>
  <Words>2078</Words>
  <Application>Microsoft Office PowerPoint</Application>
  <PresentationFormat>Widescreen</PresentationFormat>
  <Paragraphs>337</Paragraphs>
  <Slides>43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 Display</vt:lpstr>
      <vt:lpstr>Arial</vt:lpstr>
      <vt:lpstr>Consolas</vt:lpstr>
      <vt:lpstr>Aptos</vt:lpstr>
      <vt:lpstr>Wingdings</vt:lpstr>
      <vt:lpstr>Office Theme</vt:lpstr>
      <vt:lpstr>Data Engineering and Management</vt:lpstr>
      <vt:lpstr>Versioning for Data-Centric Engineering</vt:lpstr>
      <vt:lpstr>The problem:  Final_this_oneFINAL_v3.py</vt:lpstr>
      <vt:lpstr>What is Versioning</vt:lpstr>
      <vt:lpstr>Where is versioning used</vt:lpstr>
      <vt:lpstr>Why do I want versioning?</vt:lpstr>
      <vt:lpstr>What is a snapshot/commit</vt:lpstr>
      <vt:lpstr>Software’s available</vt:lpstr>
      <vt:lpstr>Git vs Github</vt:lpstr>
      <vt:lpstr>How does Git work</vt:lpstr>
      <vt:lpstr>Git CLI (terminal) Functions</vt:lpstr>
      <vt:lpstr>Commit Messages</vt:lpstr>
      <vt:lpstr>Branching</vt:lpstr>
      <vt:lpstr>What is .gitignore</vt:lpstr>
      <vt:lpstr>Git Large File Storage (LFS)</vt:lpstr>
      <vt:lpstr>Data Version Control (DVC)</vt:lpstr>
      <vt:lpstr>LFS vs DVC</vt:lpstr>
      <vt:lpstr>How can you use versioning</vt:lpstr>
      <vt:lpstr>Take home</vt:lpstr>
      <vt:lpstr>Data Engineering and Management</vt:lpstr>
      <vt:lpstr>Download the code</vt:lpstr>
      <vt:lpstr>What is Data Engineering and Management</vt:lpstr>
      <vt:lpstr>What is Data?</vt:lpstr>
      <vt:lpstr>What Happens to Data</vt:lpstr>
      <vt:lpstr>The Problem</vt:lpstr>
      <vt:lpstr>Data Collection - Inputs</vt:lpstr>
      <vt:lpstr>Data Pipelines</vt:lpstr>
      <vt:lpstr>Data Pipelines</vt:lpstr>
      <vt:lpstr>Data Pipelines - Privacy</vt:lpstr>
      <vt:lpstr>Data Cleaning</vt:lpstr>
      <vt:lpstr>Data Cleaning – Missing Data</vt:lpstr>
      <vt:lpstr>Data cleaning - Inconsistencies</vt:lpstr>
      <vt:lpstr>Data Cleaning – Outliers, Noise and Spikes</vt:lpstr>
      <vt:lpstr>Data cleaning – Ethics</vt:lpstr>
      <vt:lpstr>How and why do we store data</vt:lpstr>
      <vt:lpstr>Plain text vs Binary</vt:lpstr>
      <vt:lpstr>Databases: In-memory data</vt:lpstr>
      <vt:lpstr>Databases</vt:lpstr>
      <vt:lpstr>Relational Data</vt:lpstr>
      <vt:lpstr>Minimization via Relational Data</vt:lpstr>
      <vt:lpstr>Cyber Security</vt:lpstr>
      <vt:lpstr>Cloud Computing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Frusher (jf7g23)</dc:creator>
  <cp:lastModifiedBy>Jacob Frusher (jf7g23)</cp:lastModifiedBy>
  <cp:revision>2</cp:revision>
  <dcterms:created xsi:type="dcterms:W3CDTF">2026-06-11T11:27:33Z</dcterms:created>
  <dcterms:modified xsi:type="dcterms:W3CDTF">2026-07-01T13:36:57Z</dcterms:modified>
</cp:coreProperties>
</file>