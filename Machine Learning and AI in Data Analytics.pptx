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0"/>
  </p:notesMasterIdLst>
  <p:sldIdLst>
    <p:sldId id="256" r:id="rId2"/>
    <p:sldId id="272" r:id="rId3"/>
    <p:sldId id="274" r:id="rId4"/>
    <p:sldId id="258" r:id="rId5"/>
    <p:sldId id="287" r:id="rId6"/>
    <p:sldId id="275" r:id="rId7"/>
    <p:sldId id="260" r:id="rId8"/>
    <p:sldId id="264" r:id="rId9"/>
    <p:sldId id="282" r:id="rId10"/>
    <p:sldId id="259" r:id="rId11"/>
    <p:sldId id="261" r:id="rId12"/>
    <p:sldId id="283" r:id="rId13"/>
    <p:sldId id="262" r:id="rId14"/>
    <p:sldId id="263" r:id="rId15"/>
    <p:sldId id="284" r:id="rId16"/>
    <p:sldId id="273" r:id="rId17"/>
    <p:sldId id="288" r:id="rId18"/>
    <p:sldId id="257" r:id="rId19"/>
    <p:sldId id="289" r:id="rId20"/>
    <p:sldId id="276" r:id="rId21"/>
    <p:sldId id="277" r:id="rId22"/>
    <p:sldId id="278" r:id="rId23"/>
    <p:sldId id="279" r:id="rId24"/>
    <p:sldId id="280" r:id="rId25"/>
    <p:sldId id="281" r:id="rId26"/>
    <p:sldId id="285" r:id="rId27"/>
    <p:sldId id="286" r:id="rId28"/>
    <p:sldId id="271" r:id="rId29"/>
  </p:sldIdLst>
  <p:sldSz cx="12192000" cy="6858000"/>
  <p:notesSz cx="6858000" cy="9144000"/>
  <p:embeddedFontLst>
    <p:embeddedFont>
      <p:font typeface="Cambria Math" panose="02040503050406030204" pitchFamily="18" charset="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1D75644-728E-41DE-9C61-7F9C766AE1DB}" v="5" dt="2026-07-02T12:06:46.39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3529" autoAdjust="0"/>
  </p:normalViewPr>
  <p:slideViewPr>
    <p:cSldViewPr snapToGrid="0">
      <p:cViewPr>
        <p:scale>
          <a:sx n="53" d="100"/>
          <a:sy n="53" d="100"/>
        </p:scale>
        <p:origin x="1176"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0C46A2-8F9E-4DB8-ADBC-77E02B6E86C3}" type="datetimeFigureOut">
              <a:rPr lang="en-GB" smtClean="0"/>
              <a:t>01/07/2026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CBE505-4123-4C7D-A655-01F0B81C0C2D}" type="slidenum">
              <a:rPr lang="en-GB" smtClean="0"/>
              <a:t>‹#›</a:t>
            </a:fld>
            <a:endParaRPr lang="en-GB"/>
          </a:p>
        </p:txBody>
      </p:sp>
    </p:spTree>
    <p:extLst>
      <p:ext uri="{BB962C8B-B14F-4D97-AF65-F5344CB8AC3E}">
        <p14:creationId xmlns:p14="http://schemas.microsoft.com/office/powerpoint/2010/main" val="12761940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Explain why these affect ML and AI</a:t>
            </a:r>
          </a:p>
        </p:txBody>
      </p:sp>
      <p:sp>
        <p:nvSpPr>
          <p:cNvPr id="4" name="Slide Number Placeholder 3"/>
          <p:cNvSpPr>
            <a:spLocks noGrp="1"/>
          </p:cNvSpPr>
          <p:nvPr>
            <p:ph type="sldNum" sz="quarter" idx="5"/>
          </p:nvPr>
        </p:nvSpPr>
        <p:spPr/>
        <p:txBody>
          <a:bodyPr/>
          <a:lstStyle/>
          <a:p>
            <a:fld id="{CACBE505-4123-4C7D-A655-01F0B81C0C2D}" type="slidenum">
              <a:rPr lang="en-GB" smtClean="0"/>
              <a:t>4</a:t>
            </a:fld>
            <a:endParaRPr lang="en-GB"/>
          </a:p>
        </p:txBody>
      </p:sp>
    </p:spTree>
    <p:extLst>
      <p:ext uri="{BB962C8B-B14F-4D97-AF65-F5344CB8AC3E}">
        <p14:creationId xmlns:p14="http://schemas.microsoft.com/office/powerpoint/2010/main" val="42195883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ACBE505-4123-4C7D-A655-01F0B81C0C2D}" type="slidenum">
              <a:rPr lang="en-GB" smtClean="0"/>
              <a:t>5</a:t>
            </a:fld>
            <a:endParaRPr lang="en-GB"/>
          </a:p>
        </p:txBody>
      </p:sp>
    </p:spTree>
    <p:extLst>
      <p:ext uri="{BB962C8B-B14F-4D97-AF65-F5344CB8AC3E}">
        <p14:creationId xmlns:p14="http://schemas.microsoft.com/office/powerpoint/2010/main" val="19424948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Talk about the basics of a random forest – what they do and why they benefit so much from feature engineering</a:t>
            </a:r>
            <a:br>
              <a:rPr lang="en-GB" dirty="0"/>
            </a:br>
            <a:r>
              <a:rPr lang="en-GB" dirty="0"/>
              <a:t>MENTION training data etc </a:t>
            </a:r>
          </a:p>
        </p:txBody>
      </p:sp>
      <p:sp>
        <p:nvSpPr>
          <p:cNvPr id="4" name="Slide Number Placeholder 3"/>
          <p:cNvSpPr>
            <a:spLocks noGrp="1"/>
          </p:cNvSpPr>
          <p:nvPr>
            <p:ph type="sldNum" sz="quarter" idx="5"/>
          </p:nvPr>
        </p:nvSpPr>
        <p:spPr/>
        <p:txBody>
          <a:bodyPr/>
          <a:lstStyle/>
          <a:p>
            <a:fld id="{CACBE505-4123-4C7D-A655-01F0B81C0C2D}" type="slidenum">
              <a:rPr lang="en-GB" smtClean="0"/>
              <a:t>7</a:t>
            </a:fld>
            <a:endParaRPr lang="en-GB"/>
          </a:p>
        </p:txBody>
      </p:sp>
    </p:spTree>
    <p:extLst>
      <p:ext uri="{BB962C8B-B14F-4D97-AF65-F5344CB8AC3E}">
        <p14:creationId xmlns:p14="http://schemas.microsoft.com/office/powerpoint/2010/main" val="2142070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Explain OOD and why this is dangerous </a:t>
            </a:r>
          </a:p>
        </p:txBody>
      </p:sp>
      <p:sp>
        <p:nvSpPr>
          <p:cNvPr id="4" name="Slide Number Placeholder 3"/>
          <p:cNvSpPr>
            <a:spLocks noGrp="1"/>
          </p:cNvSpPr>
          <p:nvPr>
            <p:ph type="sldNum" sz="quarter" idx="5"/>
          </p:nvPr>
        </p:nvSpPr>
        <p:spPr/>
        <p:txBody>
          <a:bodyPr/>
          <a:lstStyle/>
          <a:p>
            <a:fld id="{CACBE505-4123-4C7D-A655-01F0B81C0C2D}" type="slidenum">
              <a:rPr lang="en-GB" smtClean="0"/>
              <a:t>8</a:t>
            </a:fld>
            <a:endParaRPr lang="en-GB"/>
          </a:p>
        </p:txBody>
      </p:sp>
    </p:spTree>
    <p:extLst>
      <p:ext uri="{BB962C8B-B14F-4D97-AF65-F5344CB8AC3E}">
        <p14:creationId xmlns:p14="http://schemas.microsoft.com/office/powerpoint/2010/main" val="5650556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ACBE505-4123-4C7D-A655-01F0B81C0C2D}" type="slidenum">
              <a:rPr lang="en-GB" smtClean="0"/>
              <a:t>9</a:t>
            </a:fld>
            <a:endParaRPr lang="en-GB"/>
          </a:p>
        </p:txBody>
      </p:sp>
    </p:spTree>
    <p:extLst>
      <p:ext uri="{BB962C8B-B14F-4D97-AF65-F5344CB8AC3E}">
        <p14:creationId xmlns:p14="http://schemas.microsoft.com/office/powerpoint/2010/main" val="21925275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Note on Frequency Domain: The curriculum highlights Fast Fourier Transforms (FFT) as the standard for capturing specific bearing fault signatures. For this introductory workshop, we use </a:t>
            </a:r>
            <a:r>
              <a:rPr lang="en-GB" b="0" dirty="0"/>
              <a:t>Vibration RMS </a:t>
            </a:r>
            <a:r>
              <a:rPr lang="en-GB" dirty="0"/>
              <a:t>as a proxy because it captures the total continuous kinetic energy dispersion in the bearing housings, which shallow tree models can process immediately without a full spectral decomposition</a:t>
            </a:r>
          </a:p>
        </p:txBody>
      </p:sp>
      <p:sp>
        <p:nvSpPr>
          <p:cNvPr id="4" name="Slide Number Placeholder 3"/>
          <p:cNvSpPr>
            <a:spLocks noGrp="1"/>
          </p:cNvSpPr>
          <p:nvPr>
            <p:ph type="sldNum" sz="quarter" idx="5"/>
          </p:nvPr>
        </p:nvSpPr>
        <p:spPr/>
        <p:txBody>
          <a:bodyPr/>
          <a:lstStyle/>
          <a:p>
            <a:fld id="{CACBE505-4123-4C7D-A655-01F0B81C0C2D}" type="slidenum">
              <a:rPr lang="en-GB" smtClean="0"/>
              <a:t>10</a:t>
            </a:fld>
            <a:endParaRPr lang="en-GB"/>
          </a:p>
        </p:txBody>
      </p:sp>
    </p:spTree>
    <p:extLst>
      <p:ext uri="{BB962C8B-B14F-4D97-AF65-F5344CB8AC3E}">
        <p14:creationId xmlns:p14="http://schemas.microsoft.com/office/powerpoint/2010/main" val="31777291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Pragmatic Approximation: True Gaussian Processes provide explicit uncertainty vectors ($\pm2\sigma$) but are highly computationally expensive. In our workshop code, we use </a:t>
            </a:r>
            <a:r>
              <a:rPr lang="en-GB" sz="1200" b="1" kern="1200" dirty="0">
                <a:solidFill>
                  <a:schemeClr val="tx1"/>
                </a:solidFill>
                <a:effectLst/>
                <a:latin typeface="+mn-lt"/>
                <a:ea typeface="+mn-ea"/>
                <a:cs typeface="+mn-cs"/>
              </a:rPr>
              <a:t>tree ensemble spread</a:t>
            </a:r>
            <a:r>
              <a:rPr lang="en-GB" sz="1200" kern="1200" dirty="0">
                <a:solidFill>
                  <a:schemeClr val="tx1"/>
                </a:solidFill>
                <a:effectLst/>
                <a:latin typeface="+mn-lt"/>
                <a:ea typeface="+mn-ea"/>
                <a:cs typeface="+mn-cs"/>
              </a:rPr>
              <a:t> (the variance across independent decision trees) as a faster, highly visual proxy for model uncertainty when moving into out-of-distribution failure regions.</a:t>
            </a:r>
            <a:endParaRPr lang="en-GB" dirty="0"/>
          </a:p>
        </p:txBody>
      </p:sp>
      <p:sp>
        <p:nvSpPr>
          <p:cNvPr id="4" name="Slide Number Placeholder 3"/>
          <p:cNvSpPr>
            <a:spLocks noGrp="1"/>
          </p:cNvSpPr>
          <p:nvPr>
            <p:ph type="sldNum" sz="quarter" idx="5"/>
          </p:nvPr>
        </p:nvSpPr>
        <p:spPr/>
        <p:txBody>
          <a:bodyPr/>
          <a:lstStyle/>
          <a:p>
            <a:fld id="{CACBE505-4123-4C7D-A655-01F0B81C0C2D}" type="slidenum">
              <a:rPr lang="en-GB" smtClean="0"/>
              <a:t>11</a:t>
            </a:fld>
            <a:endParaRPr lang="en-GB"/>
          </a:p>
        </p:txBody>
      </p:sp>
    </p:spTree>
    <p:extLst>
      <p:ext uri="{BB962C8B-B14F-4D97-AF65-F5344CB8AC3E}">
        <p14:creationId xmlns:p14="http://schemas.microsoft.com/office/powerpoint/2010/main" val="13089636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3B340-86D7-4EB1-D8E7-0B7904CB8E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13F852-149B-3F64-D1FC-05B22C27F0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57B362-FA1C-9BD4-CA6D-146856090DFB}"/>
              </a:ext>
            </a:extLst>
          </p:cNvPr>
          <p:cNvSpPr>
            <a:spLocks noGrp="1"/>
          </p:cNvSpPr>
          <p:nvPr>
            <p:ph type="body" idx="1"/>
          </p:nvPr>
        </p:nvSpPr>
        <p:spPr/>
        <p:txBody>
          <a:bodyPr/>
          <a:lstStyle/>
          <a:p>
            <a:r>
              <a:rPr lang="en-GB" dirty="0"/>
              <a:t>A GP process will understand its envelope of predictions</a:t>
            </a:r>
          </a:p>
        </p:txBody>
      </p:sp>
      <p:sp>
        <p:nvSpPr>
          <p:cNvPr id="4" name="Slide Number Placeholder 3">
            <a:extLst>
              <a:ext uri="{FF2B5EF4-FFF2-40B4-BE49-F238E27FC236}">
                <a16:creationId xmlns:a16="http://schemas.microsoft.com/office/drawing/2014/main" id="{D524CF22-E598-A9AE-857D-0D1DFBC7FACA}"/>
              </a:ext>
            </a:extLst>
          </p:cNvPr>
          <p:cNvSpPr>
            <a:spLocks noGrp="1"/>
          </p:cNvSpPr>
          <p:nvPr>
            <p:ph type="sldNum" sz="quarter" idx="5"/>
          </p:nvPr>
        </p:nvSpPr>
        <p:spPr/>
        <p:txBody>
          <a:bodyPr/>
          <a:lstStyle/>
          <a:p>
            <a:fld id="{CACBE505-4123-4C7D-A655-01F0B81C0C2D}" type="slidenum">
              <a:rPr lang="en-GB" smtClean="0"/>
              <a:t>12</a:t>
            </a:fld>
            <a:endParaRPr lang="en-GB"/>
          </a:p>
        </p:txBody>
      </p:sp>
    </p:spTree>
    <p:extLst>
      <p:ext uri="{BB962C8B-B14F-4D97-AF65-F5344CB8AC3E}">
        <p14:creationId xmlns:p14="http://schemas.microsoft.com/office/powerpoint/2010/main" val="9385366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Talk about PINNs and how these can make the models so much stronger</a:t>
            </a:r>
          </a:p>
        </p:txBody>
      </p:sp>
      <p:sp>
        <p:nvSpPr>
          <p:cNvPr id="4" name="Slide Number Placeholder 3"/>
          <p:cNvSpPr>
            <a:spLocks noGrp="1"/>
          </p:cNvSpPr>
          <p:nvPr>
            <p:ph type="sldNum" sz="quarter" idx="5"/>
          </p:nvPr>
        </p:nvSpPr>
        <p:spPr/>
        <p:txBody>
          <a:bodyPr/>
          <a:lstStyle/>
          <a:p>
            <a:fld id="{CACBE505-4123-4C7D-A655-01F0B81C0C2D}" type="slidenum">
              <a:rPr lang="en-GB" smtClean="0"/>
              <a:t>13</a:t>
            </a:fld>
            <a:endParaRPr lang="en-GB"/>
          </a:p>
        </p:txBody>
      </p:sp>
    </p:spTree>
    <p:extLst>
      <p:ext uri="{BB962C8B-B14F-4D97-AF65-F5344CB8AC3E}">
        <p14:creationId xmlns:p14="http://schemas.microsoft.com/office/powerpoint/2010/main" val="41963822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Visualisation of the model, talk through the principle of ultimate liability and explaining why its essential</a:t>
            </a:r>
          </a:p>
        </p:txBody>
      </p:sp>
      <p:sp>
        <p:nvSpPr>
          <p:cNvPr id="4" name="Slide Number Placeholder 3"/>
          <p:cNvSpPr>
            <a:spLocks noGrp="1"/>
          </p:cNvSpPr>
          <p:nvPr>
            <p:ph type="sldNum" sz="quarter" idx="5"/>
          </p:nvPr>
        </p:nvSpPr>
        <p:spPr/>
        <p:txBody>
          <a:bodyPr/>
          <a:lstStyle/>
          <a:p>
            <a:fld id="{CACBE505-4123-4C7D-A655-01F0B81C0C2D}" type="slidenum">
              <a:rPr lang="en-GB" smtClean="0"/>
              <a:t>14</a:t>
            </a:fld>
            <a:endParaRPr lang="en-GB"/>
          </a:p>
        </p:txBody>
      </p:sp>
    </p:spTree>
    <p:extLst>
      <p:ext uri="{BB962C8B-B14F-4D97-AF65-F5344CB8AC3E}">
        <p14:creationId xmlns:p14="http://schemas.microsoft.com/office/powerpoint/2010/main" val="4721366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Go back to husky analogy and </a:t>
            </a:r>
          </a:p>
        </p:txBody>
      </p:sp>
      <p:sp>
        <p:nvSpPr>
          <p:cNvPr id="4" name="Slide Number Placeholder 3"/>
          <p:cNvSpPr>
            <a:spLocks noGrp="1"/>
          </p:cNvSpPr>
          <p:nvPr>
            <p:ph type="sldNum" sz="quarter" idx="5"/>
          </p:nvPr>
        </p:nvSpPr>
        <p:spPr/>
        <p:txBody>
          <a:bodyPr/>
          <a:lstStyle/>
          <a:p>
            <a:fld id="{CACBE505-4123-4C7D-A655-01F0B81C0C2D}" type="slidenum">
              <a:rPr lang="en-GB" smtClean="0"/>
              <a:t>16</a:t>
            </a:fld>
            <a:endParaRPr lang="en-GB"/>
          </a:p>
        </p:txBody>
      </p:sp>
    </p:spTree>
    <p:extLst>
      <p:ext uri="{BB962C8B-B14F-4D97-AF65-F5344CB8AC3E}">
        <p14:creationId xmlns:p14="http://schemas.microsoft.com/office/powerpoint/2010/main" val="14028172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100-12288 dimensions from static embeddings to frontier LLMs, talk about tokenisation and how this works and how this then better defines how AI actually works </a:t>
            </a:r>
          </a:p>
        </p:txBody>
      </p:sp>
      <p:sp>
        <p:nvSpPr>
          <p:cNvPr id="4" name="Slide Number Placeholder 3"/>
          <p:cNvSpPr>
            <a:spLocks noGrp="1"/>
          </p:cNvSpPr>
          <p:nvPr>
            <p:ph type="sldNum" sz="quarter" idx="5"/>
          </p:nvPr>
        </p:nvSpPr>
        <p:spPr/>
        <p:txBody>
          <a:bodyPr/>
          <a:lstStyle/>
          <a:p>
            <a:fld id="{4B6AF91C-C0AE-43BA-BC48-03BEEE9774AE}" type="slidenum">
              <a:rPr lang="en-GB" smtClean="0"/>
              <a:t>18</a:t>
            </a:fld>
            <a:endParaRPr lang="en-GB"/>
          </a:p>
        </p:txBody>
      </p:sp>
    </p:spTree>
    <p:extLst>
      <p:ext uri="{BB962C8B-B14F-4D97-AF65-F5344CB8AC3E}">
        <p14:creationId xmlns:p14="http://schemas.microsoft.com/office/powerpoint/2010/main" val="18417886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Explain the basic concept of deep learning and how these specialised models are so good but also so restricted and bring up the benefits of uncertainty quantification in terms of ethics</a:t>
            </a:r>
          </a:p>
        </p:txBody>
      </p:sp>
      <p:sp>
        <p:nvSpPr>
          <p:cNvPr id="4" name="Slide Number Placeholder 3"/>
          <p:cNvSpPr>
            <a:spLocks noGrp="1"/>
          </p:cNvSpPr>
          <p:nvPr>
            <p:ph type="sldNum" sz="quarter" idx="5"/>
          </p:nvPr>
        </p:nvSpPr>
        <p:spPr/>
        <p:txBody>
          <a:bodyPr/>
          <a:lstStyle/>
          <a:p>
            <a:fld id="{4B6AF91C-C0AE-43BA-BC48-03BEEE9774AE}" type="slidenum">
              <a:rPr lang="en-GB" smtClean="0"/>
              <a:t>19</a:t>
            </a:fld>
            <a:endParaRPr lang="en-GB"/>
          </a:p>
        </p:txBody>
      </p:sp>
    </p:spTree>
    <p:extLst>
      <p:ext uri="{BB962C8B-B14F-4D97-AF65-F5344CB8AC3E}">
        <p14:creationId xmlns:p14="http://schemas.microsoft.com/office/powerpoint/2010/main" val="17093860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4BFC8-A19C-8F4E-483F-63053386102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2AE4A848-234F-0371-150F-7A0AB99E7AF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B2CD5983-8093-1638-6524-2903685DF377}"/>
              </a:ext>
            </a:extLst>
          </p:cNvPr>
          <p:cNvSpPr>
            <a:spLocks noGrp="1"/>
          </p:cNvSpPr>
          <p:nvPr>
            <p:ph type="dt" sz="half" idx="10"/>
          </p:nvPr>
        </p:nvSpPr>
        <p:spPr/>
        <p:txBody>
          <a:bodyPr/>
          <a:lstStyle/>
          <a:p>
            <a:fld id="{C4B1D223-B4E9-430F-B59D-378F439A97E8}" type="datetimeFigureOut">
              <a:rPr lang="en-GB" smtClean="0"/>
              <a:t>01/07/2026</a:t>
            </a:fld>
            <a:endParaRPr lang="en-GB"/>
          </a:p>
        </p:txBody>
      </p:sp>
      <p:sp>
        <p:nvSpPr>
          <p:cNvPr id="5" name="Footer Placeholder 4">
            <a:extLst>
              <a:ext uri="{FF2B5EF4-FFF2-40B4-BE49-F238E27FC236}">
                <a16:creationId xmlns:a16="http://schemas.microsoft.com/office/drawing/2014/main" id="{7ECB1BC4-5804-45E7-56A8-0B21D352F7C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D211B8C-8887-067B-EBC3-05D47E90486A}"/>
              </a:ext>
            </a:extLst>
          </p:cNvPr>
          <p:cNvSpPr>
            <a:spLocks noGrp="1"/>
          </p:cNvSpPr>
          <p:nvPr>
            <p:ph type="sldNum" sz="quarter" idx="12"/>
          </p:nvPr>
        </p:nvSpPr>
        <p:spPr/>
        <p:txBody>
          <a:bodyPr/>
          <a:lstStyle/>
          <a:p>
            <a:fld id="{9DA9710D-9378-4069-A37D-1C104CD9D30F}" type="slidenum">
              <a:rPr lang="en-GB" smtClean="0"/>
              <a:t>‹#›</a:t>
            </a:fld>
            <a:endParaRPr lang="en-GB"/>
          </a:p>
        </p:txBody>
      </p:sp>
    </p:spTree>
    <p:extLst>
      <p:ext uri="{BB962C8B-B14F-4D97-AF65-F5344CB8AC3E}">
        <p14:creationId xmlns:p14="http://schemas.microsoft.com/office/powerpoint/2010/main" val="22021870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EC24C-1A96-6516-5B48-18E55A8B82A9}"/>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4958C716-1968-466A-A969-E515859E0E03}"/>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C4F49044-0C60-55C0-CE8A-3164D578E203}"/>
              </a:ext>
            </a:extLst>
          </p:cNvPr>
          <p:cNvSpPr>
            <a:spLocks noGrp="1"/>
          </p:cNvSpPr>
          <p:nvPr>
            <p:ph type="dt" sz="half" idx="10"/>
          </p:nvPr>
        </p:nvSpPr>
        <p:spPr/>
        <p:txBody>
          <a:bodyPr/>
          <a:lstStyle/>
          <a:p>
            <a:fld id="{C4B1D223-B4E9-430F-B59D-378F439A97E8}" type="datetimeFigureOut">
              <a:rPr lang="en-GB" smtClean="0"/>
              <a:t>01/07/2026</a:t>
            </a:fld>
            <a:endParaRPr lang="en-GB"/>
          </a:p>
        </p:txBody>
      </p:sp>
      <p:sp>
        <p:nvSpPr>
          <p:cNvPr id="5" name="Footer Placeholder 4">
            <a:extLst>
              <a:ext uri="{FF2B5EF4-FFF2-40B4-BE49-F238E27FC236}">
                <a16:creationId xmlns:a16="http://schemas.microsoft.com/office/drawing/2014/main" id="{9F855772-168A-E864-BFCA-F88BACC4DE1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8E1F1D4-18BE-C9E4-8E31-21930D7F9928}"/>
              </a:ext>
            </a:extLst>
          </p:cNvPr>
          <p:cNvSpPr>
            <a:spLocks noGrp="1"/>
          </p:cNvSpPr>
          <p:nvPr>
            <p:ph type="sldNum" sz="quarter" idx="12"/>
          </p:nvPr>
        </p:nvSpPr>
        <p:spPr/>
        <p:txBody>
          <a:bodyPr/>
          <a:lstStyle/>
          <a:p>
            <a:fld id="{9DA9710D-9378-4069-A37D-1C104CD9D30F}" type="slidenum">
              <a:rPr lang="en-GB" smtClean="0"/>
              <a:t>‹#›</a:t>
            </a:fld>
            <a:endParaRPr lang="en-GB"/>
          </a:p>
        </p:txBody>
      </p:sp>
    </p:spTree>
    <p:extLst>
      <p:ext uri="{BB962C8B-B14F-4D97-AF65-F5344CB8AC3E}">
        <p14:creationId xmlns:p14="http://schemas.microsoft.com/office/powerpoint/2010/main" val="38454986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081CD-2039-FF0F-D991-25EC596A30DF}"/>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93EF36A6-2DDE-DDA6-935C-8518DF0022B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8BE4A4F-30EF-4D7E-3F72-4B059F83F3B0}"/>
              </a:ext>
            </a:extLst>
          </p:cNvPr>
          <p:cNvSpPr>
            <a:spLocks noGrp="1"/>
          </p:cNvSpPr>
          <p:nvPr>
            <p:ph type="dt" sz="half" idx="10"/>
          </p:nvPr>
        </p:nvSpPr>
        <p:spPr/>
        <p:txBody>
          <a:bodyPr/>
          <a:lstStyle/>
          <a:p>
            <a:fld id="{C4B1D223-B4E9-430F-B59D-378F439A97E8}" type="datetimeFigureOut">
              <a:rPr lang="en-GB" smtClean="0"/>
              <a:t>01/07/2026</a:t>
            </a:fld>
            <a:endParaRPr lang="en-GB"/>
          </a:p>
        </p:txBody>
      </p:sp>
      <p:sp>
        <p:nvSpPr>
          <p:cNvPr id="5" name="Footer Placeholder 4">
            <a:extLst>
              <a:ext uri="{FF2B5EF4-FFF2-40B4-BE49-F238E27FC236}">
                <a16:creationId xmlns:a16="http://schemas.microsoft.com/office/drawing/2014/main" id="{E7C2C3A8-777B-1E6E-AE3A-1FD88FE8B94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A935BDF-5A5D-ED24-7560-4EEB2422FF51}"/>
              </a:ext>
            </a:extLst>
          </p:cNvPr>
          <p:cNvSpPr>
            <a:spLocks noGrp="1"/>
          </p:cNvSpPr>
          <p:nvPr>
            <p:ph type="sldNum" sz="quarter" idx="12"/>
          </p:nvPr>
        </p:nvSpPr>
        <p:spPr/>
        <p:txBody>
          <a:bodyPr/>
          <a:lstStyle/>
          <a:p>
            <a:fld id="{9DA9710D-9378-4069-A37D-1C104CD9D30F}" type="slidenum">
              <a:rPr lang="en-GB" smtClean="0"/>
              <a:t>‹#›</a:t>
            </a:fld>
            <a:endParaRPr lang="en-GB"/>
          </a:p>
        </p:txBody>
      </p:sp>
    </p:spTree>
    <p:extLst>
      <p:ext uri="{BB962C8B-B14F-4D97-AF65-F5344CB8AC3E}">
        <p14:creationId xmlns:p14="http://schemas.microsoft.com/office/powerpoint/2010/main" val="28497941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1FC266-669E-633A-70AD-219BF0A2301D}"/>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FFE132F3-6533-2B51-1283-522DC39A906D}"/>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09642EB6-279E-6BB9-9300-4E19E137148E}"/>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565E41DB-5521-C610-82D8-02708AFF42C6}"/>
              </a:ext>
            </a:extLst>
          </p:cNvPr>
          <p:cNvSpPr>
            <a:spLocks noGrp="1"/>
          </p:cNvSpPr>
          <p:nvPr>
            <p:ph type="dt" sz="half" idx="10"/>
          </p:nvPr>
        </p:nvSpPr>
        <p:spPr/>
        <p:txBody>
          <a:bodyPr/>
          <a:lstStyle/>
          <a:p>
            <a:fld id="{C4B1D223-B4E9-430F-B59D-378F439A97E8}" type="datetimeFigureOut">
              <a:rPr lang="en-GB" smtClean="0"/>
              <a:t>01/07/2026</a:t>
            </a:fld>
            <a:endParaRPr lang="en-GB"/>
          </a:p>
        </p:txBody>
      </p:sp>
      <p:sp>
        <p:nvSpPr>
          <p:cNvPr id="6" name="Footer Placeholder 5">
            <a:extLst>
              <a:ext uri="{FF2B5EF4-FFF2-40B4-BE49-F238E27FC236}">
                <a16:creationId xmlns:a16="http://schemas.microsoft.com/office/drawing/2014/main" id="{5EDCD26C-8365-6005-4876-9AC6E0025F2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51195B1-6D6F-A5C7-DA24-141838A94329}"/>
              </a:ext>
            </a:extLst>
          </p:cNvPr>
          <p:cNvSpPr>
            <a:spLocks noGrp="1"/>
          </p:cNvSpPr>
          <p:nvPr>
            <p:ph type="sldNum" sz="quarter" idx="12"/>
          </p:nvPr>
        </p:nvSpPr>
        <p:spPr/>
        <p:txBody>
          <a:bodyPr/>
          <a:lstStyle/>
          <a:p>
            <a:fld id="{9DA9710D-9378-4069-A37D-1C104CD9D30F}" type="slidenum">
              <a:rPr lang="en-GB" smtClean="0"/>
              <a:t>‹#›</a:t>
            </a:fld>
            <a:endParaRPr lang="en-GB"/>
          </a:p>
        </p:txBody>
      </p:sp>
    </p:spTree>
    <p:extLst>
      <p:ext uri="{BB962C8B-B14F-4D97-AF65-F5344CB8AC3E}">
        <p14:creationId xmlns:p14="http://schemas.microsoft.com/office/powerpoint/2010/main" val="6560738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456EE-9B12-A837-B1B4-F4FC99770337}"/>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04743FBF-F7C2-BFCC-B122-D24580B3562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A8E70D58-B31C-4932-8C93-5F6CE196EC43}"/>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E2ACD1B4-AC43-5DF6-F955-162C5415A9D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82863107-63BB-CC7B-AF31-10A749BDF9A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042B171F-72B5-9954-2C04-5CAE5DE535C4}"/>
              </a:ext>
            </a:extLst>
          </p:cNvPr>
          <p:cNvSpPr>
            <a:spLocks noGrp="1"/>
          </p:cNvSpPr>
          <p:nvPr>
            <p:ph type="dt" sz="half" idx="10"/>
          </p:nvPr>
        </p:nvSpPr>
        <p:spPr/>
        <p:txBody>
          <a:bodyPr/>
          <a:lstStyle/>
          <a:p>
            <a:fld id="{C4B1D223-B4E9-430F-B59D-378F439A97E8}" type="datetimeFigureOut">
              <a:rPr lang="en-GB" smtClean="0"/>
              <a:t>01/07/2026</a:t>
            </a:fld>
            <a:endParaRPr lang="en-GB"/>
          </a:p>
        </p:txBody>
      </p:sp>
      <p:sp>
        <p:nvSpPr>
          <p:cNvPr id="8" name="Footer Placeholder 7">
            <a:extLst>
              <a:ext uri="{FF2B5EF4-FFF2-40B4-BE49-F238E27FC236}">
                <a16:creationId xmlns:a16="http://schemas.microsoft.com/office/drawing/2014/main" id="{5E3EC9C8-E10A-32EB-8842-5CC34B327DAA}"/>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EAB02B2D-1D0E-3D2D-D3D1-0D37FE627E8B}"/>
              </a:ext>
            </a:extLst>
          </p:cNvPr>
          <p:cNvSpPr>
            <a:spLocks noGrp="1"/>
          </p:cNvSpPr>
          <p:nvPr>
            <p:ph type="sldNum" sz="quarter" idx="12"/>
          </p:nvPr>
        </p:nvSpPr>
        <p:spPr/>
        <p:txBody>
          <a:bodyPr/>
          <a:lstStyle/>
          <a:p>
            <a:fld id="{9DA9710D-9378-4069-A37D-1C104CD9D30F}" type="slidenum">
              <a:rPr lang="en-GB" smtClean="0"/>
              <a:t>‹#›</a:t>
            </a:fld>
            <a:endParaRPr lang="en-GB"/>
          </a:p>
        </p:txBody>
      </p:sp>
    </p:spTree>
    <p:extLst>
      <p:ext uri="{BB962C8B-B14F-4D97-AF65-F5344CB8AC3E}">
        <p14:creationId xmlns:p14="http://schemas.microsoft.com/office/powerpoint/2010/main" val="28319024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E4E04-2098-CEE8-D15D-96E00FE83C2B}"/>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D8E97304-9F0E-D83A-606B-896872F1F376}"/>
              </a:ext>
            </a:extLst>
          </p:cNvPr>
          <p:cNvSpPr>
            <a:spLocks noGrp="1"/>
          </p:cNvSpPr>
          <p:nvPr>
            <p:ph type="dt" sz="half" idx="10"/>
          </p:nvPr>
        </p:nvSpPr>
        <p:spPr/>
        <p:txBody>
          <a:bodyPr/>
          <a:lstStyle/>
          <a:p>
            <a:fld id="{C4B1D223-B4E9-430F-B59D-378F439A97E8}" type="datetimeFigureOut">
              <a:rPr lang="en-GB" smtClean="0"/>
              <a:t>01/07/2026</a:t>
            </a:fld>
            <a:endParaRPr lang="en-GB"/>
          </a:p>
        </p:txBody>
      </p:sp>
      <p:sp>
        <p:nvSpPr>
          <p:cNvPr id="4" name="Footer Placeholder 3">
            <a:extLst>
              <a:ext uri="{FF2B5EF4-FFF2-40B4-BE49-F238E27FC236}">
                <a16:creationId xmlns:a16="http://schemas.microsoft.com/office/drawing/2014/main" id="{5560E43A-7027-199F-C45E-6C8B34CFC6D6}"/>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D31716E8-2F01-286C-EF88-7003AF65744F}"/>
              </a:ext>
            </a:extLst>
          </p:cNvPr>
          <p:cNvSpPr>
            <a:spLocks noGrp="1"/>
          </p:cNvSpPr>
          <p:nvPr>
            <p:ph type="sldNum" sz="quarter" idx="12"/>
          </p:nvPr>
        </p:nvSpPr>
        <p:spPr/>
        <p:txBody>
          <a:bodyPr/>
          <a:lstStyle/>
          <a:p>
            <a:fld id="{9DA9710D-9378-4069-A37D-1C104CD9D30F}" type="slidenum">
              <a:rPr lang="en-GB" smtClean="0"/>
              <a:t>‹#›</a:t>
            </a:fld>
            <a:endParaRPr lang="en-GB"/>
          </a:p>
        </p:txBody>
      </p:sp>
    </p:spTree>
    <p:extLst>
      <p:ext uri="{BB962C8B-B14F-4D97-AF65-F5344CB8AC3E}">
        <p14:creationId xmlns:p14="http://schemas.microsoft.com/office/powerpoint/2010/main" val="23933766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0840D5D-0FA5-A397-7C36-382C23B179A7}"/>
              </a:ext>
            </a:extLst>
          </p:cNvPr>
          <p:cNvSpPr>
            <a:spLocks noGrp="1"/>
          </p:cNvSpPr>
          <p:nvPr>
            <p:ph type="dt" sz="half" idx="10"/>
          </p:nvPr>
        </p:nvSpPr>
        <p:spPr/>
        <p:txBody>
          <a:bodyPr/>
          <a:lstStyle/>
          <a:p>
            <a:fld id="{C4B1D223-B4E9-430F-B59D-378F439A97E8}" type="datetimeFigureOut">
              <a:rPr lang="en-GB" smtClean="0"/>
              <a:t>01/07/2026</a:t>
            </a:fld>
            <a:endParaRPr lang="en-GB"/>
          </a:p>
        </p:txBody>
      </p:sp>
      <p:sp>
        <p:nvSpPr>
          <p:cNvPr id="3" name="Footer Placeholder 2">
            <a:extLst>
              <a:ext uri="{FF2B5EF4-FFF2-40B4-BE49-F238E27FC236}">
                <a16:creationId xmlns:a16="http://schemas.microsoft.com/office/drawing/2014/main" id="{621EE759-DA36-2339-7FF0-DEEE489E326E}"/>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BFCF79A5-8F46-C433-71B5-A1A911B01189}"/>
              </a:ext>
            </a:extLst>
          </p:cNvPr>
          <p:cNvSpPr>
            <a:spLocks noGrp="1"/>
          </p:cNvSpPr>
          <p:nvPr>
            <p:ph type="sldNum" sz="quarter" idx="12"/>
          </p:nvPr>
        </p:nvSpPr>
        <p:spPr/>
        <p:txBody>
          <a:bodyPr/>
          <a:lstStyle/>
          <a:p>
            <a:fld id="{9DA9710D-9378-4069-A37D-1C104CD9D30F}" type="slidenum">
              <a:rPr lang="en-GB" smtClean="0"/>
              <a:t>‹#›</a:t>
            </a:fld>
            <a:endParaRPr lang="en-GB"/>
          </a:p>
        </p:txBody>
      </p:sp>
    </p:spTree>
    <p:extLst>
      <p:ext uri="{BB962C8B-B14F-4D97-AF65-F5344CB8AC3E}">
        <p14:creationId xmlns:p14="http://schemas.microsoft.com/office/powerpoint/2010/main" val="18210730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26095-E186-BFCC-5C53-B8B80D6230E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53896F3D-FFCE-66BE-404A-153260F7CC0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D3A02374-3BC2-EED5-8B4C-D7F7F36963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CB3B35C-6C47-F118-E360-E8C6D8AADE6C}"/>
              </a:ext>
            </a:extLst>
          </p:cNvPr>
          <p:cNvSpPr>
            <a:spLocks noGrp="1"/>
          </p:cNvSpPr>
          <p:nvPr>
            <p:ph type="dt" sz="half" idx="10"/>
          </p:nvPr>
        </p:nvSpPr>
        <p:spPr/>
        <p:txBody>
          <a:bodyPr/>
          <a:lstStyle/>
          <a:p>
            <a:fld id="{C4B1D223-B4E9-430F-B59D-378F439A97E8}" type="datetimeFigureOut">
              <a:rPr lang="en-GB" smtClean="0"/>
              <a:t>01/07/2026</a:t>
            </a:fld>
            <a:endParaRPr lang="en-GB"/>
          </a:p>
        </p:txBody>
      </p:sp>
      <p:sp>
        <p:nvSpPr>
          <p:cNvPr id="6" name="Footer Placeholder 5">
            <a:extLst>
              <a:ext uri="{FF2B5EF4-FFF2-40B4-BE49-F238E27FC236}">
                <a16:creationId xmlns:a16="http://schemas.microsoft.com/office/drawing/2014/main" id="{1C268D2D-D6DB-95A5-7DD1-29EC499EB78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6C6B0B9-659D-33B7-D138-4A7AA6D0137B}"/>
              </a:ext>
            </a:extLst>
          </p:cNvPr>
          <p:cNvSpPr>
            <a:spLocks noGrp="1"/>
          </p:cNvSpPr>
          <p:nvPr>
            <p:ph type="sldNum" sz="quarter" idx="12"/>
          </p:nvPr>
        </p:nvSpPr>
        <p:spPr/>
        <p:txBody>
          <a:bodyPr/>
          <a:lstStyle/>
          <a:p>
            <a:fld id="{9DA9710D-9378-4069-A37D-1C104CD9D30F}" type="slidenum">
              <a:rPr lang="en-GB" smtClean="0"/>
              <a:t>‹#›</a:t>
            </a:fld>
            <a:endParaRPr lang="en-GB"/>
          </a:p>
        </p:txBody>
      </p:sp>
    </p:spTree>
    <p:extLst>
      <p:ext uri="{BB962C8B-B14F-4D97-AF65-F5344CB8AC3E}">
        <p14:creationId xmlns:p14="http://schemas.microsoft.com/office/powerpoint/2010/main" val="29499430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4F76B-D835-92AD-7E2C-550614D9708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66B43B8A-F594-888E-4274-34F2E3131CE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E7913EF6-366C-767E-86E9-29E94CA3AF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5F06586-6948-2811-CE38-2E2EEDAF26DB}"/>
              </a:ext>
            </a:extLst>
          </p:cNvPr>
          <p:cNvSpPr>
            <a:spLocks noGrp="1"/>
          </p:cNvSpPr>
          <p:nvPr>
            <p:ph type="dt" sz="half" idx="10"/>
          </p:nvPr>
        </p:nvSpPr>
        <p:spPr/>
        <p:txBody>
          <a:bodyPr/>
          <a:lstStyle/>
          <a:p>
            <a:fld id="{C4B1D223-B4E9-430F-B59D-378F439A97E8}" type="datetimeFigureOut">
              <a:rPr lang="en-GB" smtClean="0"/>
              <a:t>01/07/2026</a:t>
            </a:fld>
            <a:endParaRPr lang="en-GB"/>
          </a:p>
        </p:txBody>
      </p:sp>
      <p:sp>
        <p:nvSpPr>
          <p:cNvPr id="6" name="Footer Placeholder 5">
            <a:extLst>
              <a:ext uri="{FF2B5EF4-FFF2-40B4-BE49-F238E27FC236}">
                <a16:creationId xmlns:a16="http://schemas.microsoft.com/office/drawing/2014/main" id="{2CE4395D-A2F8-4049-348D-E85437E4E92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A4430F6-1ADA-D1B2-F37F-D2857A441F21}"/>
              </a:ext>
            </a:extLst>
          </p:cNvPr>
          <p:cNvSpPr>
            <a:spLocks noGrp="1"/>
          </p:cNvSpPr>
          <p:nvPr>
            <p:ph type="sldNum" sz="quarter" idx="12"/>
          </p:nvPr>
        </p:nvSpPr>
        <p:spPr/>
        <p:txBody>
          <a:bodyPr/>
          <a:lstStyle/>
          <a:p>
            <a:fld id="{9DA9710D-9378-4069-A37D-1C104CD9D30F}" type="slidenum">
              <a:rPr lang="en-GB" smtClean="0"/>
              <a:t>‹#›</a:t>
            </a:fld>
            <a:endParaRPr lang="en-GB"/>
          </a:p>
        </p:txBody>
      </p:sp>
    </p:spTree>
    <p:extLst>
      <p:ext uri="{BB962C8B-B14F-4D97-AF65-F5344CB8AC3E}">
        <p14:creationId xmlns:p14="http://schemas.microsoft.com/office/powerpoint/2010/main" val="2381267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A9B10-5C33-8688-BA4A-41781782537F}"/>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441FFE59-3DE3-2513-CE3A-F46F08FF2E7C}"/>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FC521D72-E64A-7A8A-3325-12A2BD1AE492}"/>
              </a:ext>
            </a:extLst>
          </p:cNvPr>
          <p:cNvSpPr>
            <a:spLocks noGrp="1"/>
          </p:cNvSpPr>
          <p:nvPr>
            <p:ph type="dt" sz="half" idx="10"/>
          </p:nvPr>
        </p:nvSpPr>
        <p:spPr/>
        <p:txBody>
          <a:bodyPr/>
          <a:lstStyle/>
          <a:p>
            <a:fld id="{C4B1D223-B4E9-430F-B59D-378F439A97E8}" type="datetimeFigureOut">
              <a:rPr lang="en-GB" smtClean="0"/>
              <a:t>01/07/2026</a:t>
            </a:fld>
            <a:endParaRPr lang="en-GB"/>
          </a:p>
        </p:txBody>
      </p:sp>
      <p:sp>
        <p:nvSpPr>
          <p:cNvPr id="5" name="Footer Placeholder 4">
            <a:extLst>
              <a:ext uri="{FF2B5EF4-FFF2-40B4-BE49-F238E27FC236}">
                <a16:creationId xmlns:a16="http://schemas.microsoft.com/office/drawing/2014/main" id="{9E3153CB-BE16-BE5C-01DE-614AE3C9D79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5F5BEF8-956E-50CE-30DE-AF29CE3D170F}"/>
              </a:ext>
            </a:extLst>
          </p:cNvPr>
          <p:cNvSpPr>
            <a:spLocks noGrp="1"/>
          </p:cNvSpPr>
          <p:nvPr>
            <p:ph type="sldNum" sz="quarter" idx="12"/>
          </p:nvPr>
        </p:nvSpPr>
        <p:spPr/>
        <p:txBody>
          <a:bodyPr/>
          <a:lstStyle/>
          <a:p>
            <a:fld id="{9DA9710D-9378-4069-A37D-1C104CD9D30F}" type="slidenum">
              <a:rPr lang="en-GB" smtClean="0"/>
              <a:t>‹#›</a:t>
            </a:fld>
            <a:endParaRPr lang="en-GB"/>
          </a:p>
        </p:txBody>
      </p:sp>
    </p:spTree>
    <p:extLst>
      <p:ext uri="{BB962C8B-B14F-4D97-AF65-F5344CB8AC3E}">
        <p14:creationId xmlns:p14="http://schemas.microsoft.com/office/powerpoint/2010/main" val="3862365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405C5F0-7BB4-4EA3-C318-BD0382DA0D4D}"/>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F2076591-2A29-37ED-2EF5-B29999FB299F}"/>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D8D42646-1FDC-0A6E-0409-3B99C86874C1}"/>
              </a:ext>
            </a:extLst>
          </p:cNvPr>
          <p:cNvSpPr>
            <a:spLocks noGrp="1"/>
          </p:cNvSpPr>
          <p:nvPr>
            <p:ph type="dt" sz="half" idx="10"/>
          </p:nvPr>
        </p:nvSpPr>
        <p:spPr/>
        <p:txBody>
          <a:bodyPr/>
          <a:lstStyle/>
          <a:p>
            <a:fld id="{C4B1D223-B4E9-430F-B59D-378F439A97E8}" type="datetimeFigureOut">
              <a:rPr lang="en-GB" smtClean="0"/>
              <a:t>01/07/2026</a:t>
            </a:fld>
            <a:endParaRPr lang="en-GB"/>
          </a:p>
        </p:txBody>
      </p:sp>
      <p:sp>
        <p:nvSpPr>
          <p:cNvPr id="5" name="Footer Placeholder 4">
            <a:extLst>
              <a:ext uri="{FF2B5EF4-FFF2-40B4-BE49-F238E27FC236}">
                <a16:creationId xmlns:a16="http://schemas.microsoft.com/office/drawing/2014/main" id="{2A1BF118-14BB-DF1E-209F-7EF6AA10847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B50AAE5-F698-C1F0-91B3-2E6F7C76C48A}"/>
              </a:ext>
            </a:extLst>
          </p:cNvPr>
          <p:cNvSpPr>
            <a:spLocks noGrp="1"/>
          </p:cNvSpPr>
          <p:nvPr>
            <p:ph type="sldNum" sz="quarter" idx="12"/>
          </p:nvPr>
        </p:nvSpPr>
        <p:spPr/>
        <p:txBody>
          <a:bodyPr/>
          <a:lstStyle/>
          <a:p>
            <a:fld id="{9DA9710D-9378-4069-A37D-1C104CD9D30F}" type="slidenum">
              <a:rPr lang="en-GB" smtClean="0"/>
              <a:t>‹#›</a:t>
            </a:fld>
            <a:endParaRPr lang="en-GB"/>
          </a:p>
        </p:txBody>
      </p:sp>
    </p:spTree>
    <p:extLst>
      <p:ext uri="{BB962C8B-B14F-4D97-AF65-F5344CB8AC3E}">
        <p14:creationId xmlns:p14="http://schemas.microsoft.com/office/powerpoint/2010/main" val="34926596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A38471-AB33-07CF-A2A6-705934231A6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8585831D-9B85-263D-8584-C5A2DC6874C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3226F667-A2EC-FF0C-5BDD-2286E094800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4B1D223-B4E9-430F-B59D-378F439A97E8}" type="datetimeFigureOut">
              <a:rPr lang="en-GB" smtClean="0"/>
              <a:t>01/07/2026</a:t>
            </a:fld>
            <a:endParaRPr lang="en-GB"/>
          </a:p>
        </p:txBody>
      </p:sp>
      <p:sp>
        <p:nvSpPr>
          <p:cNvPr id="5" name="Footer Placeholder 4">
            <a:extLst>
              <a:ext uri="{FF2B5EF4-FFF2-40B4-BE49-F238E27FC236}">
                <a16:creationId xmlns:a16="http://schemas.microsoft.com/office/drawing/2014/main" id="{AAF6E5D2-73F3-E474-7951-91C1FDD93F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A17740AE-B4DB-9AA5-150B-12F526576E2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DA9710D-9378-4069-A37D-1C104CD9D30F}" type="slidenum">
              <a:rPr lang="en-GB" smtClean="0"/>
              <a:t>‹#›</a:t>
            </a:fld>
            <a:endParaRPr lang="en-GB"/>
          </a:p>
        </p:txBody>
      </p:sp>
    </p:spTree>
    <p:extLst>
      <p:ext uri="{BB962C8B-B14F-4D97-AF65-F5344CB8AC3E}">
        <p14:creationId xmlns:p14="http://schemas.microsoft.com/office/powerpoint/2010/main" val="41376128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9.jpeg"/><Relationship Id="rId4" Type="http://schemas.openxmlformats.org/officeDocument/2006/relationships/image" Target="../media/image8.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17522-2472-37F5-0DD4-40799A42932F}"/>
              </a:ext>
            </a:extLst>
          </p:cNvPr>
          <p:cNvSpPr>
            <a:spLocks noGrp="1"/>
          </p:cNvSpPr>
          <p:nvPr>
            <p:ph type="ctrTitle"/>
          </p:nvPr>
        </p:nvSpPr>
        <p:spPr/>
        <p:txBody>
          <a:bodyPr/>
          <a:lstStyle/>
          <a:p>
            <a:r>
              <a:rPr lang="en-GB" dirty="0"/>
              <a:t>Machine Learning in Data Analytics</a:t>
            </a:r>
          </a:p>
        </p:txBody>
      </p:sp>
      <p:sp>
        <p:nvSpPr>
          <p:cNvPr id="3" name="Subtitle 2">
            <a:extLst>
              <a:ext uri="{FF2B5EF4-FFF2-40B4-BE49-F238E27FC236}">
                <a16:creationId xmlns:a16="http://schemas.microsoft.com/office/drawing/2014/main" id="{CAF78226-6948-C38B-6696-DE461AC5C8CB}"/>
              </a:ext>
            </a:extLst>
          </p:cNvPr>
          <p:cNvSpPr>
            <a:spLocks noGrp="1"/>
          </p:cNvSpPr>
          <p:nvPr>
            <p:ph type="subTitle" idx="1"/>
          </p:nvPr>
        </p:nvSpPr>
        <p:spPr/>
        <p:txBody>
          <a:bodyPr/>
          <a:lstStyle/>
          <a:p>
            <a:r>
              <a:rPr lang="en-GB" dirty="0"/>
              <a:t>A workshop within the Data-Centric Engineering scheme</a:t>
            </a:r>
          </a:p>
        </p:txBody>
      </p:sp>
    </p:spTree>
    <p:extLst>
      <p:ext uri="{BB962C8B-B14F-4D97-AF65-F5344CB8AC3E}">
        <p14:creationId xmlns:p14="http://schemas.microsoft.com/office/powerpoint/2010/main" val="12540137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DB6C5-7DB7-F4BC-A8D5-9393865541F5}"/>
              </a:ext>
            </a:extLst>
          </p:cNvPr>
          <p:cNvSpPr>
            <a:spLocks noGrp="1"/>
          </p:cNvSpPr>
          <p:nvPr>
            <p:ph type="title"/>
          </p:nvPr>
        </p:nvSpPr>
        <p:spPr/>
        <p:txBody>
          <a:bodyPr/>
          <a:lstStyle/>
          <a:p>
            <a:r>
              <a:rPr lang="en-GB" dirty="0"/>
              <a:t>Machine Learning</a:t>
            </a:r>
          </a:p>
        </p:txBody>
      </p:sp>
      <p:sp>
        <p:nvSpPr>
          <p:cNvPr id="3" name="Content Placeholder 2">
            <a:extLst>
              <a:ext uri="{FF2B5EF4-FFF2-40B4-BE49-F238E27FC236}">
                <a16:creationId xmlns:a16="http://schemas.microsoft.com/office/drawing/2014/main" id="{63CEF6D0-32F7-1C1D-F768-5CAA7411E6F1}"/>
              </a:ext>
            </a:extLst>
          </p:cNvPr>
          <p:cNvSpPr>
            <a:spLocks noGrp="1"/>
          </p:cNvSpPr>
          <p:nvPr>
            <p:ph idx="1"/>
          </p:nvPr>
        </p:nvSpPr>
        <p:spPr/>
        <p:txBody>
          <a:bodyPr/>
          <a:lstStyle/>
          <a:p>
            <a:r>
              <a:rPr lang="en-GB" dirty="0"/>
              <a:t>You create a model not an equation</a:t>
            </a:r>
          </a:p>
          <a:p>
            <a:r>
              <a:rPr lang="en-GB" dirty="0"/>
              <a:t>The model figures out the rules itself</a:t>
            </a:r>
          </a:p>
          <a:p>
            <a:r>
              <a:rPr lang="en-GB" dirty="0"/>
              <a:t>It’s all about pattern </a:t>
            </a:r>
            <a:br>
              <a:rPr lang="en-GB" dirty="0"/>
            </a:br>
            <a:r>
              <a:rPr lang="en-GB" dirty="0"/>
              <a:t>recognition</a:t>
            </a:r>
          </a:p>
          <a:p>
            <a:r>
              <a:rPr lang="en-GB" dirty="0"/>
              <a:t>Data collection </a:t>
            </a:r>
            <a:r>
              <a:rPr lang="en-GB" dirty="0">
                <a:sym typeface="Wingdings" panose="05000000000000000000" pitchFamily="2" charset="2"/>
              </a:rPr>
              <a:t> </a:t>
            </a:r>
            <a:br>
              <a:rPr lang="en-GB" dirty="0">
                <a:sym typeface="Wingdings" panose="05000000000000000000" pitchFamily="2" charset="2"/>
              </a:rPr>
            </a:br>
            <a:r>
              <a:rPr lang="en-GB" dirty="0">
                <a:sym typeface="Wingdings" panose="05000000000000000000" pitchFamily="2" charset="2"/>
              </a:rPr>
              <a:t>Feature selection  </a:t>
            </a:r>
            <a:br>
              <a:rPr lang="en-GB" dirty="0">
                <a:sym typeface="Wingdings" panose="05000000000000000000" pitchFamily="2" charset="2"/>
              </a:rPr>
            </a:br>
            <a:r>
              <a:rPr lang="en-GB" dirty="0">
                <a:sym typeface="Wingdings" panose="05000000000000000000" pitchFamily="2" charset="2"/>
              </a:rPr>
              <a:t>Training  </a:t>
            </a:r>
            <a:br>
              <a:rPr lang="en-GB" dirty="0">
                <a:sym typeface="Wingdings" panose="05000000000000000000" pitchFamily="2" charset="2"/>
              </a:rPr>
            </a:br>
            <a:r>
              <a:rPr lang="en-GB" dirty="0">
                <a:sym typeface="Wingdings" panose="05000000000000000000" pitchFamily="2" charset="2"/>
              </a:rPr>
              <a:t>Evaluation</a:t>
            </a:r>
          </a:p>
        </p:txBody>
      </p:sp>
      <p:pic>
        <p:nvPicPr>
          <p:cNvPr id="4" name="Picture 3" descr="machine learning types overview, AI generated">
            <a:extLst>
              <a:ext uri="{FF2B5EF4-FFF2-40B4-BE49-F238E27FC236}">
                <a16:creationId xmlns:a16="http://schemas.microsoft.com/office/drawing/2014/main" id="{C817B333-2964-53BA-242C-06490F4ADB8D}"/>
              </a:ext>
            </a:extLst>
          </p:cNvPr>
          <p:cNvPicPr>
            <a:picLocks noChangeAspect="1"/>
          </p:cNvPicPr>
          <p:nvPr/>
        </p:nvPicPr>
        <p:blipFill>
          <a:blip r:embed="rId2"/>
          <a:stretch>
            <a:fillRect/>
          </a:stretch>
        </p:blipFill>
        <p:spPr>
          <a:xfrm>
            <a:off x="5407639" y="2869471"/>
            <a:ext cx="6448594" cy="3623404"/>
          </a:xfrm>
          <a:prstGeom prst="rect">
            <a:avLst/>
          </a:prstGeom>
        </p:spPr>
      </p:pic>
    </p:spTree>
    <p:extLst>
      <p:ext uri="{BB962C8B-B14F-4D97-AF65-F5344CB8AC3E}">
        <p14:creationId xmlns:p14="http://schemas.microsoft.com/office/powerpoint/2010/main" val="17748036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4CA5C-9BE5-E567-A52E-C0A109FD92A3}"/>
              </a:ext>
            </a:extLst>
          </p:cNvPr>
          <p:cNvSpPr>
            <a:spLocks noGrp="1"/>
          </p:cNvSpPr>
          <p:nvPr>
            <p:ph type="title"/>
          </p:nvPr>
        </p:nvSpPr>
        <p:spPr/>
        <p:txBody>
          <a:bodyPr/>
          <a:lstStyle/>
          <a:p>
            <a:r>
              <a:rPr lang="en-GB" dirty="0"/>
              <a:t>Training a Toddler</a:t>
            </a:r>
          </a:p>
        </p:txBody>
      </p:sp>
      <p:pic>
        <p:nvPicPr>
          <p:cNvPr id="6" name="Content Placeholder 5" descr="This toddler had a whole lecture ready for the corgi 😂🐶, Pointing…  tapping… head-shaking… and the corgi just stands there like, “Yes, tiny  human, I understand.”, Cutest moment you’ll see today! ❤️✨, ...">
            <a:extLst>
              <a:ext uri="{FF2B5EF4-FFF2-40B4-BE49-F238E27FC236}">
                <a16:creationId xmlns:a16="http://schemas.microsoft.com/office/drawing/2014/main" id="{E1881868-1260-6C83-5A6A-29D87DD908A9}"/>
              </a:ext>
            </a:extLst>
          </p:cNvPr>
          <p:cNvPicPr>
            <a:picLocks noGrp="1" noChangeAspect="1"/>
          </p:cNvPicPr>
          <p:nvPr>
            <p:ph sz="half" idx="1"/>
          </p:nvPr>
        </p:nvPicPr>
        <p:blipFill>
          <a:blip r:embed="rId2"/>
          <a:stretch>
            <a:fillRect/>
          </a:stretch>
        </p:blipFill>
        <p:spPr>
          <a:xfrm>
            <a:off x="2341165" y="1825625"/>
            <a:ext cx="2175669" cy="4351338"/>
          </a:xfrm>
          <a:prstGeom prst="rect">
            <a:avLst/>
          </a:prstGeom>
        </p:spPr>
      </p:pic>
      <p:sp>
        <p:nvSpPr>
          <p:cNvPr id="5" name="Content Placeholder 4">
            <a:extLst>
              <a:ext uri="{FF2B5EF4-FFF2-40B4-BE49-F238E27FC236}">
                <a16:creationId xmlns:a16="http://schemas.microsoft.com/office/drawing/2014/main" id="{1EEB7E02-DA60-C353-8490-17CDD124DED0}"/>
              </a:ext>
            </a:extLst>
          </p:cNvPr>
          <p:cNvSpPr>
            <a:spLocks noGrp="1"/>
          </p:cNvSpPr>
          <p:nvPr>
            <p:ph sz="half" idx="2"/>
          </p:nvPr>
        </p:nvSpPr>
        <p:spPr>
          <a:xfrm>
            <a:off x="4661210" y="1825625"/>
            <a:ext cx="6692590" cy="4351338"/>
          </a:xfrm>
        </p:spPr>
        <p:txBody>
          <a:bodyPr/>
          <a:lstStyle/>
          <a:p>
            <a:r>
              <a:rPr lang="en-GB" dirty="0"/>
              <a:t>We teach by showing examples</a:t>
            </a:r>
          </a:p>
          <a:p>
            <a:r>
              <a:rPr lang="en-GB" dirty="0"/>
              <a:t>Input images of animals</a:t>
            </a:r>
          </a:p>
          <a:p>
            <a:r>
              <a:rPr lang="en-GB" dirty="0"/>
              <a:t>Correct mistakes</a:t>
            </a:r>
          </a:p>
          <a:p>
            <a:r>
              <a:rPr lang="en-GB" dirty="0"/>
              <a:t>The toddler may be able to even identify new breeds</a:t>
            </a:r>
          </a:p>
          <a:p>
            <a:r>
              <a:rPr lang="en-GB" dirty="0"/>
              <a:t>But what do they actually see? </a:t>
            </a:r>
          </a:p>
        </p:txBody>
      </p:sp>
    </p:spTree>
    <p:extLst>
      <p:ext uri="{BB962C8B-B14F-4D97-AF65-F5344CB8AC3E}">
        <p14:creationId xmlns:p14="http://schemas.microsoft.com/office/powerpoint/2010/main" val="37487841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6027EA-27D9-F703-AE69-C2453585147A}"/>
              </a:ext>
            </a:extLst>
          </p:cNvPr>
          <p:cNvSpPr>
            <a:spLocks noGrp="1"/>
          </p:cNvSpPr>
          <p:nvPr>
            <p:ph type="title"/>
          </p:nvPr>
        </p:nvSpPr>
        <p:spPr/>
        <p:txBody>
          <a:bodyPr/>
          <a:lstStyle/>
          <a:p>
            <a:r>
              <a:rPr lang="en-GB" dirty="0"/>
              <a:t>Noise, Drift and Anomalies</a:t>
            </a:r>
          </a:p>
        </p:txBody>
      </p:sp>
      <p:sp>
        <p:nvSpPr>
          <p:cNvPr id="3" name="Content Placeholder 2">
            <a:extLst>
              <a:ext uri="{FF2B5EF4-FFF2-40B4-BE49-F238E27FC236}">
                <a16:creationId xmlns:a16="http://schemas.microsoft.com/office/drawing/2014/main" id="{39D10623-A8DE-2371-A503-0777EEAA0FD9}"/>
              </a:ext>
            </a:extLst>
          </p:cNvPr>
          <p:cNvSpPr>
            <a:spLocks noGrp="1"/>
          </p:cNvSpPr>
          <p:nvPr>
            <p:ph idx="1"/>
          </p:nvPr>
        </p:nvSpPr>
        <p:spPr/>
        <p:txBody>
          <a:bodyPr>
            <a:normAutofit/>
          </a:bodyPr>
          <a:lstStyle/>
          <a:p>
            <a:r>
              <a:rPr lang="en-GB" dirty="0"/>
              <a:t>Noise can come from EMF, environmental factors and sensor error</a:t>
            </a:r>
          </a:p>
          <a:p>
            <a:r>
              <a:rPr lang="en-GB" dirty="0"/>
              <a:t>Drift can come from sensors, slow mechanical changes</a:t>
            </a:r>
          </a:p>
          <a:p>
            <a:r>
              <a:rPr lang="en-GB" dirty="0"/>
              <a:t>Anomalies can arise in any system</a:t>
            </a:r>
          </a:p>
        </p:txBody>
      </p:sp>
      <p:pic>
        <p:nvPicPr>
          <p:cNvPr id="3074" name="Picture 2" descr="7.3.2. Moving average, Savitzky-Golay and deriving filters — Biomechanical  Analysis using Python and Kinetics Toolkit">
            <a:extLst>
              <a:ext uri="{FF2B5EF4-FFF2-40B4-BE49-F238E27FC236}">
                <a16:creationId xmlns:a16="http://schemas.microsoft.com/office/drawing/2014/main" id="{BF3CE299-56FC-1C9F-6DDB-EAC082109D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05150" y="3450490"/>
            <a:ext cx="5981700" cy="3190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76497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1EB70-0AF4-201F-FE17-5E4374F4FD36}"/>
              </a:ext>
            </a:extLst>
          </p:cNvPr>
          <p:cNvSpPr>
            <a:spLocks noGrp="1"/>
          </p:cNvSpPr>
          <p:nvPr>
            <p:ph type="title"/>
          </p:nvPr>
        </p:nvSpPr>
        <p:spPr/>
        <p:txBody>
          <a:bodyPr/>
          <a:lstStyle/>
          <a:p>
            <a:r>
              <a:rPr lang="en-GB" dirty="0"/>
              <a:t>Machine Learning Algorithms</a:t>
            </a:r>
          </a:p>
        </p:txBody>
      </p:sp>
      <p:pic>
        <p:nvPicPr>
          <p:cNvPr id="4" name="Content Placeholder 3" descr="Random Forest Regression in Python - GeeksforGeeks">
            <a:extLst>
              <a:ext uri="{FF2B5EF4-FFF2-40B4-BE49-F238E27FC236}">
                <a16:creationId xmlns:a16="http://schemas.microsoft.com/office/drawing/2014/main" id="{8190B654-148C-1D72-EAA3-184F94D744FA}"/>
              </a:ext>
            </a:extLst>
          </p:cNvPr>
          <p:cNvPicPr>
            <a:picLocks noGrp="1" noChangeAspect="1"/>
          </p:cNvPicPr>
          <p:nvPr>
            <p:ph idx="1"/>
          </p:nvPr>
        </p:nvPicPr>
        <p:blipFill>
          <a:blip r:embed="rId3"/>
          <a:stretch>
            <a:fillRect/>
          </a:stretch>
        </p:blipFill>
        <p:spPr>
          <a:xfrm>
            <a:off x="4823825" y="1690688"/>
            <a:ext cx="6529975" cy="4351338"/>
          </a:xfrm>
          <a:prstGeom prst="rect">
            <a:avLst/>
          </a:prstGeom>
        </p:spPr>
      </p:pic>
      <p:sp>
        <p:nvSpPr>
          <p:cNvPr id="5" name="TextBox 4">
            <a:extLst>
              <a:ext uri="{FF2B5EF4-FFF2-40B4-BE49-F238E27FC236}">
                <a16:creationId xmlns:a16="http://schemas.microsoft.com/office/drawing/2014/main" id="{1496CC44-89C7-3957-7F5C-4C1FEBBE9774}"/>
              </a:ext>
            </a:extLst>
          </p:cNvPr>
          <p:cNvSpPr txBox="1"/>
          <p:nvPr/>
        </p:nvSpPr>
        <p:spPr>
          <a:xfrm>
            <a:off x="838200" y="1690688"/>
            <a:ext cx="3709737" cy="3539430"/>
          </a:xfrm>
          <a:prstGeom prst="rect">
            <a:avLst/>
          </a:prstGeom>
          <a:noFill/>
        </p:spPr>
        <p:txBody>
          <a:bodyPr wrap="square" rtlCol="0">
            <a:spAutoFit/>
          </a:bodyPr>
          <a:lstStyle/>
          <a:p>
            <a:pPr marL="285750" indent="-285750">
              <a:buFont typeface="Arial" panose="020B0604020202020204" pitchFamily="34" charset="0"/>
              <a:buChar char="•"/>
            </a:pPr>
            <a:r>
              <a:rPr lang="en-GB" sz="2800" dirty="0"/>
              <a:t>Decision trees</a:t>
            </a:r>
          </a:p>
          <a:p>
            <a:pPr marL="285750" indent="-285750">
              <a:buFont typeface="Arial" panose="020B0604020202020204" pitchFamily="34" charset="0"/>
              <a:buChar char="•"/>
            </a:pPr>
            <a:r>
              <a:rPr lang="en-GB" sz="2800" dirty="0"/>
              <a:t>Random forest models </a:t>
            </a:r>
            <a:r>
              <a:rPr lang="en-GB" sz="2800" dirty="0">
                <a:sym typeface="Wingdings" panose="05000000000000000000" pitchFamily="2" charset="2"/>
              </a:rPr>
              <a:t></a:t>
            </a:r>
          </a:p>
          <a:p>
            <a:pPr marL="285750" indent="-285750">
              <a:buFont typeface="Arial" panose="020B0604020202020204" pitchFamily="34" charset="0"/>
              <a:buChar char="•"/>
            </a:pPr>
            <a:r>
              <a:rPr lang="en-GB" sz="2800" dirty="0"/>
              <a:t>Linear / logistic regression</a:t>
            </a:r>
          </a:p>
          <a:p>
            <a:pPr marL="285750" indent="-285750">
              <a:buFont typeface="Arial" panose="020B0604020202020204" pitchFamily="34" charset="0"/>
              <a:buChar char="•"/>
            </a:pPr>
            <a:r>
              <a:rPr lang="en-GB" sz="2800" dirty="0"/>
              <a:t>K clustering</a:t>
            </a:r>
          </a:p>
          <a:p>
            <a:pPr marL="285750" indent="-285750">
              <a:buFont typeface="Arial" panose="020B0604020202020204" pitchFamily="34" charset="0"/>
              <a:buChar char="•"/>
            </a:pPr>
            <a:r>
              <a:rPr lang="en-GB" sz="2800" dirty="0"/>
              <a:t>Convolutional neural networks</a:t>
            </a:r>
          </a:p>
        </p:txBody>
      </p:sp>
    </p:spTree>
    <p:extLst>
      <p:ext uri="{BB962C8B-B14F-4D97-AF65-F5344CB8AC3E}">
        <p14:creationId xmlns:p14="http://schemas.microsoft.com/office/powerpoint/2010/main" val="7749912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17655-A744-69CB-B5EC-B2598A9FC4F5}"/>
              </a:ext>
            </a:extLst>
          </p:cNvPr>
          <p:cNvSpPr>
            <a:spLocks noGrp="1"/>
          </p:cNvSpPr>
          <p:nvPr>
            <p:ph type="title"/>
          </p:nvPr>
        </p:nvSpPr>
        <p:spPr/>
        <p:txBody>
          <a:bodyPr/>
          <a:lstStyle/>
          <a:p>
            <a:r>
              <a:rPr lang="en-GB" dirty="0"/>
              <a:t>How tree models work</a:t>
            </a:r>
          </a:p>
        </p:txBody>
      </p:sp>
      <p:sp>
        <p:nvSpPr>
          <p:cNvPr id="3" name="Content Placeholder 2">
            <a:extLst>
              <a:ext uri="{FF2B5EF4-FFF2-40B4-BE49-F238E27FC236}">
                <a16:creationId xmlns:a16="http://schemas.microsoft.com/office/drawing/2014/main" id="{2E096486-D851-9BEA-11F8-EE0D7F904E52}"/>
              </a:ext>
            </a:extLst>
          </p:cNvPr>
          <p:cNvSpPr>
            <a:spLocks noGrp="1"/>
          </p:cNvSpPr>
          <p:nvPr>
            <p:ph idx="1"/>
          </p:nvPr>
        </p:nvSpPr>
        <p:spPr>
          <a:xfrm>
            <a:off x="838200" y="1825625"/>
            <a:ext cx="8316951" cy="4351338"/>
          </a:xfrm>
        </p:spPr>
        <p:txBody>
          <a:bodyPr/>
          <a:lstStyle/>
          <a:p>
            <a:r>
              <a:rPr lang="en-GB" dirty="0"/>
              <a:t>We start off with a decision tree</a:t>
            </a:r>
          </a:p>
          <a:p>
            <a:r>
              <a:rPr lang="en-GB" dirty="0"/>
              <a:t>We send every car on the lot through the tree and then end up at “leaves”. </a:t>
            </a:r>
          </a:p>
          <a:p>
            <a:r>
              <a:rPr lang="en-GB" dirty="0"/>
              <a:t>We use known data and average the results at the leaves.</a:t>
            </a:r>
          </a:p>
          <a:p>
            <a:r>
              <a:rPr lang="en-GB" dirty="0"/>
              <a:t>Very sensitive, brittle and prone to over fitting</a:t>
            </a:r>
          </a:p>
          <a:p>
            <a:r>
              <a:rPr lang="en-GB" dirty="0"/>
              <a:t>A random forest gets the opinions of the whole dealership</a:t>
            </a:r>
          </a:p>
        </p:txBody>
      </p:sp>
      <p:pic>
        <p:nvPicPr>
          <p:cNvPr id="9" name="Picture 8">
            <a:extLst>
              <a:ext uri="{FF2B5EF4-FFF2-40B4-BE49-F238E27FC236}">
                <a16:creationId xmlns:a16="http://schemas.microsoft.com/office/drawing/2014/main" id="{AE9B91BA-29DE-A90E-8272-9F395D83AB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88144" y="1281112"/>
            <a:ext cx="3733800" cy="4295775"/>
          </a:xfrm>
          <a:prstGeom prst="rect">
            <a:avLst/>
          </a:prstGeom>
        </p:spPr>
      </p:pic>
    </p:spTree>
    <p:extLst>
      <p:ext uri="{BB962C8B-B14F-4D97-AF65-F5344CB8AC3E}">
        <p14:creationId xmlns:p14="http://schemas.microsoft.com/office/powerpoint/2010/main" val="22468042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E5F5D-3986-4932-048F-D67D4BB7A198}"/>
              </a:ext>
            </a:extLst>
          </p:cNvPr>
          <p:cNvSpPr>
            <a:spLocks noGrp="1"/>
          </p:cNvSpPr>
          <p:nvPr>
            <p:ph type="title"/>
          </p:nvPr>
        </p:nvSpPr>
        <p:spPr/>
        <p:txBody>
          <a:bodyPr/>
          <a:lstStyle/>
          <a:p>
            <a:r>
              <a:rPr lang="en-GB" dirty="0"/>
              <a:t>Random Forest Regressors</a:t>
            </a:r>
          </a:p>
        </p:txBody>
      </p:sp>
      <p:sp>
        <p:nvSpPr>
          <p:cNvPr id="3" name="Content Placeholder 2">
            <a:extLst>
              <a:ext uri="{FF2B5EF4-FFF2-40B4-BE49-F238E27FC236}">
                <a16:creationId xmlns:a16="http://schemas.microsoft.com/office/drawing/2014/main" id="{922FC12C-B23F-8CDE-3977-5B4973889E10}"/>
              </a:ext>
            </a:extLst>
          </p:cNvPr>
          <p:cNvSpPr>
            <a:spLocks noGrp="1"/>
          </p:cNvSpPr>
          <p:nvPr>
            <p:ph idx="1"/>
          </p:nvPr>
        </p:nvSpPr>
        <p:spPr/>
        <p:txBody>
          <a:bodyPr>
            <a:normAutofit lnSpcReduction="10000"/>
          </a:bodyPr>
          <a:lstStyle/>
          <a:p>
            <a:r>
              <a:rPr lang="en-GB" dirty="0"/>
              <a:t>A tree is a decision tree (flow chart) </a:t>
            </a:r>
          </a:p>
          <a:p>
            <a:r>
              <a:rPr lang="en-GB" dirty="0"/>
              <a:t>Trees are at risk of overfitting but using a random forest combines and lets them vote</a:t>
            </a:r>
          </a:p>
          <a:p>
            <a:r>
              <a:rPr lang="en-GB" dirty="0"/>
              <a:t>Random Forests use an ensemble of independent decision trees to reduce prediction variance and prevent overfitting.</a:t>
            </a:r>
          </a:p>
          <a:p>
            <a:r>
              <a:rPr lang="en-GB" dirty="0"/>
              <a:t>Naive models trained on uncleaned time-series typically yield low performance.</a:t>
            </a:r>
          </a:p>
          <a:p>
            <a:r>
              <a:rPr lang="en-GB" dirty="0"/>
              <a:t>Training the exact same algorithm on cleaned, physics-derived engineering features causes accuracy to typically surge without changing model hyperparameters.</a:t>
            </a:r>
          </a:p>
          <a:p>
            <a:endParaRPr lang="en-GB" dirty="0"/>
          </a:p>
        </p:txBody>
      </p:sp>
    </p:spTree>
    <p:extLst>
      <p:ext uri="{BB962C8B-B14F-4D97-AF65-F5344CB8AC3E}">
        <p14:creationId xmlns:p14="http://schemas.microsoft.com/office/powerpoint/2010/main" val="39391920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BEC39-87E9-6414-B8CB-87EB3C104FD2}"/>
              </a:ext>
            </a:extLst>
          </p:cNvPr>
          <p:cNvSpPr>
            <a:spLocks noGrp="1"/>
          </p:cNvSpPr>
          <p:nvPr>
            <p:ph type="title"/>
          </p:nvPr>
        </p:nvSpPr>
        <p:spPr/>
        <p:txBody>
          <a:bodyPr/>
          <a:lstStyle/>
          <a:p>
            <a:r>
              <a:rPr lang="en-GB" dirty="0"/>
              <a:t>The Limits of Trees</a:t>
            </a:r>
          </a:p>
        </p:txBody>
      </p:sp>
      <p:sp>
        <p:nvSpPr>
          <p:cNvPr id="3" name="Content Placeholder 2">
            <a:extLst>
              <a:ext uri="{FF2B5EF4-FFF2-40B4-BE49-F238E27FC236}">
                <a16:creationId xmlns:a16="http://schemas.microsoft.com/office/drawing/2014/main" id="{C8242C3D-1182-3F94-E2A4-473DF259C757}"/>
              </a:ext>
            </a:extLst>
          </p:cNvPr>
          <p:cNvSpPr>
            <a:spLocks noGrp="1"/>
          </p:cNvSpPr>
          <p:nvPr>
            <p:ph idx="1"/>
          </p:nvPr>
        </p:nvSpPr>
        <p:spPr>
          <a:xfrm>
            <a:off x="838200" y="1825625"/>
            <a:ext cx="5257800" cy="4351338"/>
          </a:xfrm>
        </p:spPr>
        <p:txBody>
          <a:bodyPr/>
          <a:lstStyle/>
          <a:p>
            <a:r>
              <a:rPr lang="en-GB" dirty="0"/>
              <a:t>Decision trees predict by averaging training data inside bounding boxes. If the pump operates at an unprecedented high temperature (Out-of-Distribution / OOD), a Random Forest will confidently predict a normal efficiency based on the closest box it knows. It cannot say, </a:t>
            </a:r>
            <a:r>
              <a:rPr lang="en-GB" i="1" dirty="0"/>
              <a:t>"I don't know."</a:t>
            </a:r>
            <a:endParaRPr lang="en-GB" dirty="0"/>
          </a:p>
        </p:txBody>
      </p:sp>
      <p:pic>
        <p:nvPicPr>
          <p:cNvPr id="1026" name="Picture 2" descr="Waymo Launches Generative 3D World Model to Train Self-Driving Cars">
            <a:extLst>
              <a:ext uri="{FF2B5EF4-FFF2-40B4-BE49-F238E27FC236}">
                <a16:creationId xmlns:a16="http://schemas.microsoft.com/office/drawing/2014/main" id="{7D1A47B5-F812-9BED-8D58-F148DA4C44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2105993"/>
            <a:ext cx="6023202" cy="37906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90267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29922-E149-34B4-C6C1-977A86E18845}"/>
              </a:ext>
            </a:extLst>
          </p:cNvPr>
          <p:cNvSpPr>
            <a:spLocks noGrp="1"/>
          </p:cNvSpPr>
          <p:nvPr>
            <p:ph type="title"/>
          </p:nvPr>
        </p:nvSpPr>
        <p:spPr/>
        <p:txBody>
          <a:bodyPr/>
          <a:lstStyle/>
          <a:p>
            <a:r>
              <a:rPr lang="en-GB" dirty="0"/>
              <a:t>Feature Engineering</a:t>
            </a:r>
          </a:p>
        </p:txBody>
      </p:sp>
      <p:pic>
        <p:nvPicPr>
          <p:cNvPr id="8" name="Content Placeholder 7" descr="How to Julienne Carrots">
            <a:extLst>
              <a:ext uri="{FF2B5EF4-FFF2-40B4-BE49-F238E27FC236}">
                <a16:creationId xmlns:a16="http://schemas.microsoft.com/office/drawing/2014/main" id="{62DDA61B-F27D-A268-8F1D-E5893CB2CA63}"/>
              </a:ext>
            </a:extLst>
          </p:cNvPr>
          <p:cNvPicPr>
            <a:picLocks noGrp="1" noChangeAspect="1"/>
          </p:cNvPicPr>
          <p:nvPr>
            <p:ph idx="1"/>
          </p:nvPr>
        </p:nvPicPr>
        <p:blipFill>
          <a:blip r:embed="rId3"/>
          <a:stretch>
            <a:fillRect/>
          </a:stretch>
        </p:blipFill>
        <p:spPr>
          <a:xfrm>
            <a:off x="7943031" y="2173787"/>
            <a:ext cx="4022596" cy="3655014"/>
          </a:xfrm>
          <a:prstGeom prst="rect">
            <a:avLst/>
          </a:prstGeom>
        </p:spPr>
      </p:pic>
      <p:pic>
        <p:nvPicPr>
          <p:cNvPr id="6" name="Picture 5" descr="Mise-en-place: A system for getting organized">
            <a:extLst>
              <a:ext uri="{FF2B5EF4-FFF2-40B4-BE49-F238E27FC236}">
                <a16:creationId xmlns:a16="http://schemas.microsoft.com/office/drawing/2014/main" id="{0612A99D-58A3-3A28-FE7B-8A3F1F007C68}"/>
              </a:ext>
            </a:extLst>
          </p:cNvPr>
          <p:cNvPicPr>
            <a:picLocks noChangeAspect="1"/>
          </p:cNvPicPr>
          <p:nvPr/>
        </p:nvPicPr>
        <p:blipFill>
          <a:blip r:embed="rId4"/>
          <a:stretch>
            <a:fillRect/>
          </a:stretch>
        </p:blipFill>
        <p:spPr>
          <a:xfrm>
            <a:off x="4450080" y="2904014"/>
            <a:ext cx="3291840" cy="2194560"/>
          </a:xfrm>
          <a:prstGeom prst="rect">
            <a:avLst/>
          </a:prstGeom>
        </p:spPr>
      </p:pic>
      <p:pic>
        <p:nvPicPr>
          <p:cNvPr id="7" name="Picture 6" descr="Pile of Dirty Carrots with Soil. Fresh Vegetables in Local Farmers Market  or Supermarket. Discount. Grocery Shopping Stock Photo - Image of ground,  background: 231227850">
            <a:extLst>
              <a:ext uri="{FF2B5EF4-FFF2-40B4-BE49-F238E27FC236}">
                <a16:creationId xmlns:a16="http://schemas.microsoft.com/office/drawing/2014/main" id="{B0CB5067-AA11-4324-900C-B25C6C857FFF}"/>
              </a:ext>
            </a:extLst>
          </p:cNvPr>
          <p:cNvPicPr>
            <a:picLocks noChangeAspect="1"/>
          </p:cNvPicPr>
          <p:nvPr/>
        </p:nvPicPr>
        <p:blipFill>
          <a:blip r:embed="rId5"/>
          <a:stretch>
            <a:fillRect/>
          </a:stretch>
        </p:blipFill>
        <p:spPr>
          <a:xfrm>
            <a:off x="144648" y="2467304"/>
            <a:ext cx="4104321" cy="3067980"/>
          </a:xfrm>
          <a:prstGeom prst="rect">
            <a:avLst/>
          </a:prstGeom>
        </p:spPr>
      </p:pic>
      <p:sp>
        <p:nvSpPr>
          <p:cNvPr id="9" name="TextBox 8">
            <a:extLst>
              <a:ext uri="{FF2B5EF4-FFF2-40B4-BE49-F238E27FC236}">
                <a16:creationId xmlns:a16="http://schemas.microsoft.com/office/drawing/2014/main" id="{0AA0A00B-65C5-5D05-2A11-D12597914B7E}"/>
              </a:ext>
            </a:extLst>
          </p:cNvPr>
          <p:cNvSpPr txBox="1"/>
          <p:nvPr/>
        </p:nvSpPr>
        <p:spPr>
          <a:xfrm>
            <a:off x="144648" y="6110868"/>
            <a:ext cx="11820979" cy="646331"/>
          </a:xfrm>
          <a:prstGeom prst="rect">
            <a:avLst/>
          </a:prstGeom>
          <a:noFill/>
        </p:spPr>
        <p:txBody>
          <a:bodyPr wrap="square" rtlCol="0">
            <a:spAutoFit/>
          </a:bodyPr>
          <a:lstStyle/>
          <a:p>
            <a:pPr algn="ctr"/>
            <a:r>
              <a:rPr lang="en-GB" dirty="0">
                <a:sym typeface="Wingdings" panose="05000000000000000000" pitchFamily="2" charset="2"/>
              </a:rPr>
              <a:t>Dirty carrots  Mise </a:t>
            </a:r>
            <a:r>
              <a:rPr lang="en-GB" dirty="0" err="1">
                <a:sym typeface="Wingdings" panose="05000000000000000000" pitchFamily="2" charset="2"/>
              </a:rPr>
              <a:t>en</a:t>
            </a:r>
            <a:r>
              <a:rPr lang="en-GB" dirty="0">
                <a:sym typeface="Wingdings" panose="05000000000000000000" pitchFamily="2" charset="2"/>
              </a:rPr>
              <a:t> place  Julienne carrots</a:t>
            </a:r>
            <a:endParaRPr lang="en-GB" dirty="0"/>
          </a:p>
          <a:p>
            <a:pPr algn="ctr"/>
            <a:r>
              <a:rPr lang="en-GB" dirty="0"/>
              <a:t>Raw Features </a:t>
            </a:r>
            <a:r>
              <a:rPr lang="en-GB" dirty="0">
                <a:sym typeface="Wingdings" panose="05000000000000000000" pitchFamily="2" charset="2"/>
              </a:rPr>
              <a:t>  Feature extraction  Engineered Features</a:t>
            </a:r>
          </a:p>
        </p:txBody>
      </p:sp>
    </p:spTree>
    <p:extLst>
      <p:ext uri="{BB962C8B-B14F-4D97-AF65-F5344CB8AC3E}">
        <p14:creationId xmlns:p14="http://schemas.microsoft.com/office/powerpoint/2010/main" val="16961489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DE04FC-43BA-73A2-BAED-47E077422EB8}"/>
              </a:ext>
            </a:extLst>
          </p:cNvPr>
          <p:cNvSpPr>
            <a:spLocks noGrp="1"/>
          </p:cNvSpPr>
          <p:nvPr>
            <p:ph type="title"/>
          </p:nvPr>
        </p:nvSpPr>
        <p:spPr/>
        <p:txBody>
          <a:bodyPr/>
          <a:lstStyle/>
          <a:p>
            <a:r>
              <a:rPr lang="en-GB" dirty="0"/>
              <a:t>Feature Engineering</a:t>
            </a:r>
          </a:p>
        </p:txBody>
      </p:sp>
      <p:sp>
        <p:nvSpPr>
          <p:cNvPr id="3" name="Content Placeholder 2">
            <a:extLst>
              <a:ext uri="{FF2B5EF4-FFF2-40B4-BE49-F238E27FC236}">
                <a16:creationId xmlns:a16="http://schemas.microsoft.com/office/drawing/2014/main" id="{3FA1EBF7-D6CD-2FA2-F0E3-8038DE074E37}"/>
              </a:ext>
            </a:extLst>
          </p:cNvPr>
          <p:cNvSpPr>
            <a:spLocks noGrp="1"/>
          </p:cNvSpPr>
          <p:nvPr>
            <p:ph sz="half" idx="1"/>
          </p:nvPr>
        </p:nvSpPr>
        <p:spPr/>
        <p:txBody>
          <a:bodyPr>
            <a:normAutofit lnSpcReduction="10000"/>
          </a:bodyPr>
          <a:lstStyle/>
          <a:p>
            <a:r>
              <a:rPr lang="en-GB" dirty="0"/>
              <a:t>Raw time-series signals are highly inefficient inputs for shallow ML models.</a:t>
            </a:r>
          </a:p>
          <a:p>
            <a:r>
              <a:rPr lang="en-GB" dirty="0"/>
              <a:t>Root Mean Square (RMS) maps directly to continuous kinetic energy dispersion within structural bearing housings.</a:t>
            </a:r>
          </a:p>
          <a:p>
            <a:r>
              <a:rPr lang="en-GB" dirty="0"/>
              <a:t>Fast Fourier Transforms (FFT) can convert time-domain variables into frequency spectra. </a:t>
            </a:r>
          </a:p>
          <a:p>
            <a:endParaRPr lang="en-GB" dirty="0"/>
          </a:p>
        </p:txBody>
      </p:sp>
      <p:graphicFrame>
        <p:nvGraphicFramePr>
          <p:cNvPr id="5" name="Content Placeholder 4">
            <a:extLst>
              <a:ext uri="{FF2B5EF4-FFF2-40B4-BE49-F238E27FC236}">
                <a16:creationId xmlns:a16="http://schemas.microsoft.com/office/drawing/2014/main" id="{38084179-332F-6D54-367B-28DC19832D1C}"/>
              </a:ext>
            </a:extLst>
          </p:cNvPr>
          <p:cNvGraphicFramePr>
            <a:graphicFrameLocks noGrp="1"/>
          </p:cNvGraphicFramePr>
          <p:nvPr>
            <p:ph sz="half" idx="2"/>
            <p:extLst>
              <p:ext uri="{D42A27DB-BD31-4B8C-83A1-F6EECF244321}">
                <p14:modId xmlns:p14="http://schemas.microsoft.com/office/powerpoint/2010/main" val="1727799691"/>
              </p:ext>
            </p:extLst>
          </p:nvPr>
        </p:nvGraphicFramePr>
        <p:xfrm>
          <a:off x="6172200" y="699348"/>
          <a:ext cx="5181600" cy="5491480"/>
        </p:xfrm>
        <a:graphic>
          <a:graphicData uri="http://schemas.openxmlformats.org/drawingml/2006/table">
            <a:tbl>
              <a:tblPr firstRow="1" bandRow="1">
                <a:tableStyleId>{5C22544A-7EE6-4342-B048-85BDC9FD1C3A}</a:tableStyleId>
              </a:tblPr>
              <a:tblGrid>
                <a:gridCol w="1727200">
                  <a:extLst>
                    <a:ext uri="{9D8B030D-6E8A-4147-A177-3AD203B41FA5}">
                      <a16:colId xmlns:a16="http://schemas.microsoft.com/office/drawing/2014/main" val="634756256"/>
                    </a:ext>
                  </a:extLst>
                </a:gridCol>
                <a:gridCol w="1727200">
                  <a:extLst>
                    <a:ext uri="{9D8B030D-6E8A-4147-A177-3AD203B41FA5}">
                      <a16:colId xmlns:a16="http://schemas.microsoft.com/office/drawing/2014/main" val="3065700508"/>
                    </a:ext>
                  </a:extLst>
                </a:gridCol>
                <a:gridCol w="1727200">
                  <a:extLst>
                    <a:ext uri="{9D8B030D-6E8A-4147-A177-3AD203B41FA5}">
                      <a16:colId xmlns:a16="http://schemas.microsoft.com/office/drawing/2014/main" val="3733526206"/>
                    </a:ext>
                  </a:extLst>
                </a:gridCol>
              </a:tblGrid>
              <a:tr h="370840">
                <a:tc>
                  <a:txBody>
                    <a:bodyPr/>
                    <a:lstStyle/>
                    <a:p>
                      <a:r>
                        <a:rPr lang="en-GB" dirty="0"/>
                        <a:t>Domain</a:t>
                      </a:r>
                    </a:p>
                  </a:txBody>
                  <a:tcPr/>
                </a:tc>
                <a:tc>
                  <a:txBody>
                    <a:bodyPr/>
                    <a:lstStyle/>
                    <a:p>
                      <a:r>
                        <a:rPr lang="en-GB" dirty="0"/>
                        <a:t>Raw Data</a:t>
                      </a:r>
                    </a:p>
                  </a:txBody>
                  <a:tcPr/>
                </a:tc>
                <a:tc>
                  <a:txBody>
                    <a:bodyPr/>
                    <a:lstStyle/>
                    <a:p>
                      <a:r>
                        <a:rPr lang="en-GB" dirty="0"/>
                        <a:t>FE signal</a:t>
                      </a:r>
                    </a:p>
                  </a:txBody>
                  <a:tcPr/>
                </a:tc>
                <a:extLst>
                  <a:ext uri="{0D108BD9-81ED-4DB2-BD59-A6C34878D82A}">
                    <a16:rowId xmlns:a16="http://schemas.microsoft.com/office/drawing/2014/main" val="715481889"/>
                  </a:ext>
                </a:extLst>
              </a:tr>
              <a:tr h="370840">
                <a:tc>
                  <a:txBody>
                    <a:bodyPr/>
                    <a:lstStyle/>
                    <a:p>
                      <a:r>
                        <a:rPr lang="en-GB" dirty="0"/>
                        <a:t>Biomedical</a:t>
                      </a:r>
                    </a:p>
                  </a:txBody>
                  <a:tcPr/>
                </a:tc>
                <a:tc>
                  <a:txBody>
                    <a:bodyPr/>
                    <a:lstStyle/>
                    <a:p>
                      <a:r>
                        <a:rPr lang="en-GB" dirty="0"/>
                        <a:t>ECG sensor stream</a:t>
                      </a:r>
                    </a:p>
                  </a:txBody>
                  <a:tcPr/>
                </a:tc>
                <a:tc>
                  <a:txBody>
                    <a:bodyPr/>
                    <a:lstStyle/>
                    <a:p>
                      <a:r>
                        <a:rPr lang="en-GB" dirty="0"/>
                        <a:t>Heart rate Variability</a:t>
                      </a:r>
                    </a:p>
                  </a:txBody>
                  <a:tcPr/>
                </a:tc>
                <a:extLst>
                  <a:ext uri="{0D108BD9-81ED-4DB2-BD59-A6C34878D82A}">
                    <a16:rowId xmlns:a16="http://schemas.microsoft.com/office/drawing/2014/main" val="1456751271"/>
                  </a:ext>
                </a:extLst>
              </a:tr>
              <a:tr h="370840">
                <a:tc>
                  <a:txBody>
                    <a:bodyPr/>
                    <a:lstStyle/>
                    <a:p>
                      <a:r>
                        <a:rPr lang="en-GB" dirty="0"/>
                        <a:t>Computer Vision</a:t>
                      </a:r>
                    </a:p>
                  </a:txBody>
                  <a:tcPr/>
                </a:tc>
                <a:tc>
                  <a:txBody>
                    <a:bodyPr/>
                    <a:lstStyle/>
                    <a:p>
                      <a:r>
                        <a:rPr lang="en-GB" dirty="0"/>
                        <a:t>A full pixel matrix</a:t>
                      </a:r>
                    </a:p>
                  </a:txBody>
                  <a:tcPr/>
                </a:tc>
                <a:tc>
                  <a:txBody>
                    <a:bodyPr/>
                    <a:lstStyle/>
                    <a:p>
                      <a:r>
                        <a:rPr lang="en-GB" dirty="0"/>
                        <a:t>A histogram of oriented gradients</a:t>
                      </a:r>
                    </a:p>
                  </a:txBody>
                  <a:tcPr/>
                </a:tc>
                <a:extLst>
                  <a:ext uri="{0D108BD9-81ED-4DB2-BD59-A6C34878D82A}">
                    <a16:rowId xmlns:a16="http://schemas.microsoft.com/office/drawing/2014/main" val="362034979"/>
                  </a:ext>
                </a:extLst>
              </a:tr>
              <a:tr h="370840">
                <a:tc>
                  <a:txBody>
                    <a:bodyPr/>
                    <a:lstStyle/>
                    <a:p>
                      <a:r>
                        <a:rPr lang="en-GB" dirty="0"/>
                        <a:t>E-commerce</a:t>
                      </a:r>
                    </a:p>
                  </a:txBody>
                  <a:tcPr/>
                </a:tc>
                <a:tc>
                  <a:txBody>
                    <a:bodyPr/>
                    <a:lstStyle/>
                    <a:p>
                      <a:r>
                        <a:rPr lang="en-GB" dirty="0"/>
                        <a:t>A full Timestamped log</a:t>
                      </a:r>
                    </a:p>
                  </a:txBody>
                  <a:tcPr/>
                </a:tc>
                <a:tc>
                  <a:txBody>
                    <a:bodyPr/>
                    <a:lstStyle/>
                    <a:p>
                      <a:r>
                        <a:rPr lang="en-GB" dirty="0"/>
                        <a:t>Average session duration and purchase velocity</a:t>
                      </a:r>
                    </a:p>
                  </a:txBody>
                  <a:tcPr/>
                </a:tc>
                <a:extLst>
                  <a:ext uri="{0D108BD9-81ED-4DB2-BD59-A6C34878D82A}">
                    <a16:rowId xmlns:a16="http://schemas.microsoft.com/office/drawing/2014/main" val="1797719752"/>
                  </a:ext>
                </a:extLst>
              </a:tr>
              <a:tr h="370840">
                <a:tc>
                  <a:txBody>
                    <a:bodyPr/>
                    <a:lstStyle/>
                    <a:p>
                      <a:r>
                        <a:rPr lang="en-GB" dirty="0"/>
                        <a:t>Natural Language Processing</a:t>
                      </a:r>
                    </a:p>
                  </a:txBody>
                  <a:tcPr/>
                </a:tc>
                <a:tc>
                  <a:txBody>
                    <a:bodyPr/>
                    <a:lstStyle/>
                    <a:p>
                      <a:r>
                        <a:rPr lang="en-GB" dirty="0"/>
                        <a:t>Raw text string</a:t>
                      </a:r>
                    </a:p>
                  </a:txBody>
                  <a:tcPr/>
                </a:tc>
                <a:tc>
                  <a:txBody>
                    <a:bodyPr/>
                    <a:lstStyle/>
                    <a:p>
                      <a:r>
                        <a:rPr lang="en-GB" dirty="0"/>
                        <a:t>TF-IDF vectors and word embedding</a:t>
                      </a:r>
                    </a:p>
                  </a:txBody>
                  <a:tcPr/>
                </a:tc>
                <a:extLst>
                  <a:ext uri="{0D108BD9-81ED-4DB2-BD59-A6C34878D82A}">
                    <a16:rowId xmlns:a16="http://schemas.microsoft.com/office/drawing/2014/main" val="1261206081"/>
                  </a:ext>
                </a:extLst>
              </a:tr>
              <a:tr h="370840">
                <a:tc>
                  <a:txBody>
                    <a:bodyPr/>
                    <a:lstStyle/>
                    <a:p>
                      <a:r>
                        <a:rPr lang="en-GB" dirty="0"/>
                        <a:t>Geospatial</a:t>
                      </a:r>
                    </a:p>
                  </a:txBody>
                  <a:tcPr/>
                </a:tc>
                <a:tc>
                  <a:txBody>
                    <a:bodyPr/>
                    <a:lstStyle/>
                    <a:p>
                      <a:r>
                        <a:rPr lang="en-GB" dirty="0"/>
                        <a:t>GPS coords.</a:t>
                      </a:r>
                    </a:p>
                  </a:txBody>
                  <a:tcPr/>
                </a:tc>
                <a:tc>
                  <a:txBody>
                    <a:bodyPr/>
                    <a:lstStyle/>
                    <a:p>
                      <a:r>
                        <a:rPr lang="en-GB" dirty="0"/>
                        <a:t>Haversine distance between 2 pings</a:t>
                      </a:r>
                    </a:p>
                  </a:txBody>
                  <a:tcPr/>
                </a:tc>
                <a:extLst>
                  <a:ext uri="{0D108BD9-81ED-4DB2-BD59-A6C34878D82A}">
                    <a16:rowId xmlns:a16="http://schemas.microsoft.com/office/drawing/2014/main" val="3221762507"/>
                  </a:ext>
                </a:extLst>
              </a:tr>
            </a:tbl>
          </a:graphicData>
        </a:graphic>
      </p:graphicFrame>
    </p:spTree>
    <p:extLst>
      <p:ext uri="{BB962C8B-B14F-4D97-AF65-F5344CB8AC3E}">
        <p14:creationId xmlns:p14="http://schemas.microsoft.com/office/powerpoint/2010/main" val="2360784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6A2B2-8A7C-87F2-E80F-18A7DCE412C7}"/>
              </a:ext>
            </a:extLst>
          </p:cNvPr>
          <p:cNvSpPr>
            <a:spLocks noGrp="1"/>
          </p:cNvSpPr>
          <p:nvPr>
            <p:ph type="title"/>
          </p:nvPr>
        </p:nvSpPr>
        <p:spPr/>
        <p:txBody>
          <a:bodyPr>
            <a:normAutofit/>
          </a:bodyPr>
          <a:lstStyle/>
          <a:p>
            <a:r>
              <a:rPr lang="en-GB" dirty="0"/>
              <a:t>Risk &amp; Uncertainty via Gaussian Processes</a:t>
            </a:r>
          </a:p>
        </p:txBody>
      </p:sp>
      <p:sp>
        <p:nvSpPr>
          <p:cNvPr id="3" name="Content Placeholder 2">
            <a:extLst>
              <a:ext uri="{FF2B5EF4-FFF2-40B4-BE49-F238E27FC236}">
                <a16:creationId xmlns:a16="http://schemas.microsoft.com/office/drawing/2014/main" id="{1E4C8A56-5454-1A44-12BF-401826C2D131}"/>
              </a:ext>
            </a:extLst>
          </p:cNvPr>
          <p:cNvSpPr>
            <a:spLocks noGrp="1"/>
          </p:cNvSpPr>
          <p:nvPr>
            <p:ph idx="1"/>
          </p:nvPr>
        </p:nvSpPr>
        <p:spPr/>
        <p:txBody>
          <a:bodyPr/>
          <a:lstStyle/>
          <a:p>
            <a:r>
              <a:rPr lang="en-GB" dirty="0"/>
              <a:t>Most models are overconfident and will stay like this even out of their bounds.</a:t>
            </a:r>
          </a:p>
          <a:p>
            <a:r>
              <a:rPr lang="en-GB" dirty="0"/>
              <a:t>Tree ensembles and traditional neural networks cannot quantify their own ignorance when extrapolating.</a:t>
            </a:r>
          </a:p>
          <a:p>
            <a:r>
              <a:rPr lang="en-GB" dirty="0"/>
              <a:t>Gaussian Process Regression (GPR) provides non-parametric modelling that outputs explicit uncertainty vectors alongside predictions by running a bunch of mathematically possible outcomes</a:t>
            </a:r>
          </a:p>
          <a:p>
            <a:endParaRPr lang="en-GB" dirty="0"/>
          </a:p>
        </p:txBody>
      </p:sp>
    </p:spTree>
    <p:extLst>
      <p:ext uri="{BB962C8B-B14F-4D97-AF65-F5344CB8AC3E}">
        <p14:creationId xmlns:p14="http://schemas.microsoft.com/office/powerpoint/2010/main" val="34751799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E100A-C0BA-E8A2-7C60-BC6B976BBB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4A31AB-3DC7-207B-3AF1-CCF773897843}"/>
              </a:ext>
            </a:extLst>
          </p:cNvPr>
          <p:cNvSpPr>
            <a:spLocks noGrp="1"/>
          </p:cNvSpPr>
          <p:nvPr>
            <p:ph type="title"/>
          </p:nvPr>
        </p:nvSpPr>
        <p:spPr/>
        <p:txBody>
          <a:bodyPr>
            <a:normAutofit/>
          </a:bodyPr>
          <a:lstStyle/>
          <a:p>
            <a:r>
              <a:rPr lang="en-GB" dirty="0"/>
              <a:t>Driving down a foggy road</a:t>
            </a:r>
          </a:p>
        </p:txBody>
      </p:sp>
      <p:sp>
        <p:nvSpPr>
          <p:cNvPr id="3" name="Content Placeholder 2">
            <a:extLst>
              <a:ext uri="{FF2B5EF4-FFF2-40B4-BE49-F238E27FC236}">
                <a16:creationId xmlns:a16="http://schemas.microsoft.com/office/drawing/2014/main" id="{0B74B955-FD8B-66C5-668C-EE51C1C2AD6B}"/>
              </a:ext>
            </a:extLst>
          </p:cNvPr>
          <p:cNvSpPr>
            <a:spLocks noGrp="1"/>
          </p:cNvSpPr>
          <p:nvPr>
            <p:ph idx="1"/>
          </p:nvPr>
        </p:nvSpPr>
        <p:spPr>
          <a:xfrm>
            <a:off x="838200" y="1825625"/>
            <a:ext cx="6532756" cy="4351338"/>
          </a:xfrm>
        </p:spPr>
        <p:txBody>
          <a:bodyPr/>
          <a:lstStyle/>
          <a:p>
            <a:r>
              <a:rPr lang="en-GB" dirty="0"/>
              <a:t>There is always a risk of loose gravel or a stray nail (aleatoric risk)</a:t>
            </a:r>
          </a:p>
          <a:p>
            <a:r>
              <a:rPr lang="en-GB" dirty="0"/>
              <a:t>The fog restricts your view (epistemic uncertainty)</a:t>
            </a:r>
          </a:p>
          <a:p>
            <a:r>
              <a:rPr lang="en-GB" dirty="0"/>
              <a:t>A wise model will visualise all the possible paths and slow down because its uncertainty envelope has grown.</a:t>
            </a:r>
          </a:p>
          <a:p>
            <a:r>
              <a:rPr lang="en-GB" dirty="0"/>
              <a:t>A standard ML model will stick as 60mph as its data doesn’t show a turn ahead</a:t>
            </a:r>
          </a:p>
        </p:txBody>
      </p:sp>
      <p:pic>
        <p:nvPicPr>
          <p:cNvPr id="4" name="Picture 3" descr="A car driving down a road in the fog photo – Free Car Image on Unsplash">
            <a:extLst>
              <a:ext uri="{FF2B5EF4-FFF2-40B4-BE49-F238E27FC236}">
                <a16:creationId xmlns:a16="http://schemas.microsoft.com/office/drawing/2014/main" id="{C3C29FDD-6732-8B36-E4DB-960488483BCA}"/>
              </a:ext>
            </a:extLst>
          </p:cNvPr>
          <p:cNvPicPr>
            <a:picLocks noChangeAspect="1"/>
          </p:cNvPicPr>
          <p:nvPr/>
        </p:nvPicPr>
        <p:blipFill>
          <a:blip r:embed="rId3"/>
          <a:stretch>
            <a:fillRect/>
          </a:stretch>
        </p:blipFill>
        <p:spPr>
          <a:xfrm>
            <a:off x="7728626" y="857250"/>
            <a:ext cx="4113138" cy="5143500"/>
          </a:xfrm>
          <a:prstGeom prst="rect">
            <a:avLst/>
          </a:prstGeom>
        </p:spPr>
      </p:pic>
    </p:spTree>
    <p:extLst>
      <p:ext uri="{BB962C8B-B14F-4D97-AF65-F5344CB8AC3E}">
        <p14:creationId xmlns:p14="http://schemas.microsoft.com/office/powerpoint/2010/main" val="15024306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A41E9-83F4-4370-4D03-EEF25A0C7733}"/>
              </a:ext>
            </a:extLst>
          </p:cNvPr>
          <p:cNvSpPr>
            <a:spLocks noGrp="1"/>
          </p:cNvSpPr>
          <p:nvPr>
            <p:ph type="title"/>
          </p:nvPr>
        </p:nvSpPr>
        <p:spPr/>
        <p:txBody>
          <a:bodyPr/>
          <a:lstStyle/>
          <a:p>
            <a:r>
              <a:rPr lang="en-GB" dirty="0"/>
              <a:t>Implementing Physical Boundary Layer Constraints</a:t>
            </a:r>
          </a:p>
        </p:txBody>
      </p:sp>
      <p:sp>
        <p:nvSpPr>
          <p:cNvPr id="3" name="Content Placeholder 2">
            <a:extLst>
              <a:ext uri="{FF2B5EF4-FFF2-40B4-BE49-F238E27FC236}">
                <a16:creationId xmlns:a16="http://schemas.microsoft.com/office/drawing/2014/main" id="{2B3FCF36-2A49-0962-459B-3A7284D9DD7B}"/>
              </a:ext>
            </a:extLst>
          </p:cNvPr>
          <p:cNvSpPr>
            <a:spLocks noGrp="1"/>
          </p:cNvSpPr>
          <p:nvPr>
            <p:ph idx="1"/>
          </p:nvPr>
        </p:nvSpPr>
        <p:spPr/>
        <p:txBody>
          <a:bodyPr/>
          <a:lstStyle/>
          <a:p>
            <a:r>
              <a:rPr lang="en-GB" dirty="0"/>
              <a:t>Purely data-driven models lack an inherent understanding of conservation laws (mass, energy, momentum).</a:t>
            </a:r>
          </a:p>
          <a:p>
            <a:r>
              <a:rPr lang="en-GB" dirty="0"/>
              <a:t>A physics-informed framework implements hard boundary constraints to catch unphysical extrapolations.</a:t>
            </a:r>
          </a:p>
          <a:p>
            <a:r>
              <a:rPr lang="en-GB" dirty="0"/>
              <a:t>If engine temperature &gt; 999 C, might not be a real reading</a:t>
            </a:r>
          </a:p>
        </p:txBody>
      </p:sp>
    </p:spTree>
    <p:extLst>
      <p:ext uri="{BB962C8B-B14F-4D97-AF65-F5344CB8AC3E}">
        <p14:creationId xmlns:p14="http://schemas.microsoft.com/office/powerpoint/2010/main" val="40502732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7727A-1AC8-D63C-969F-9CD39B496B98}"/>
              </a:ext>
            </a:extLst>
          </p:cNvPr>
          <p:cNvSpPr>
            <a:spLocks noGrp="1"/>
          </p:cNvSpPr>
          <p:nvPr>
            <p:ph type="title"/>
          </p:nvPr>
        </p:nvSpPr>
        <p:spPr/>
        <p:txBody>
          <a:bodyPr/>
          <a:lstStyle/>
          <a:p>
            <a:r>
              <a:rPr lang="en-GB" dirty="0"/>
              <a:t>Applied Engineering Ethics and Explainable Frameworks</a:t>
            </a:r>
          </a:p>
        </p:txBody>
      </p:sp>
      <p:sp>
        <p:nvSpPr>
          <p:cNvPr id="3" name="Content Placeholder 2">
            <a:extLst>
              <a:ext uri="{FF2B5EF4-FFF2-40B4-BE49-F238E27FC236}">
                <a16:creationId xmlns:a16="http://schemas.microsoft.com/office/drawing/2014/main" id="{9BB14AFD-0EC5-0165-2E4F-11A8B1AB271E}"/>
              </a:ext>
            </a:extLst>
          </p:cNvPr>
          <p:cNvSpPr>
            <a:spLocks noGrp="1"/>
          </p:cNvSpPr>
          <p:nvPr>
            <p:ph idx="1"/>
          </p:nvPr>
        </p:nvSpPr>
        <p:spPr/>
        <p:txBody>
          <a:bodyPr/>
          <a:lstStyle/>
          <a:p>
            <a:r>
              <a:rPr lang="en-GB" dirty="0"/>
              <a:t>The Engineer of Record carries ultimate legal and professional liability for public welfare; passing blame to a "black box" is inadmissible.</a:t>
            </a:r>
          </a:p>
          <a:p>
            <a:r>
              <a:rPr lang="en-GB" dirty="0"/>
              <a:t>SHAP (</a:t>
            </a:r>
            <a:r>
              <a:rPr lang="en-GB" dirty="0" err="1"/>
              <a:t>SHapley</a:t>
            </a:r>
            <a:r>
              <a:rPr lang="en-GB" dirty="0"/>
              <a:t> Additive </a:t>
            </a:r>
            <a:r>
              <a:rPr lang="en-GB" dirty="0" err="1"/>
              <a:t>exPlanations</a:t>
            </a:r>
            <a:r>
              <a:rPr lang="en-GB" dirty="0"/>
              <a:t>) utilizes game theory to fairly allocate feature attribution metrics to individual sensor channels. </a:t>
            </a:r>
          </a:p>
          <a:p>
            <a:r>
              <a:rPr lang="en-GB" dirty="0"/>
              <a:t>Explainability tools enable operators to distinguish between true mechanical asset failures and localized sensor calibration bias.</a:t>
            </a:r>
          </a:p>
          <a:p>
            <a:endParaRPr lang="en-GB" dirty="0"/>
          </a:p>
        </p:txBody>
      </p:sp>
    </p:spTree>
    <p:extLst>
      <p:ext uri="{BB962C8B-B14F-4D97-AF65-F5344CB8AC3E}">
        <p14:creationId xmlns:p14="http://schemas.microsoft.com/office/powerpoint/2010/main" val="9421750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3FE8C-D4DD-DF7C-124E-662DF2CB0B21}"/>
              </a:ext>
            </a:extLst>
          </p:cNvPr>
          <p:cNvSpPr>
            <a:spLocks noGrp="1"/>
          </p:cNvSpPr>
          <p:nvPr>
            <p:ph type="title"/>
          </p:nvPr>
        </p:nvSpPr>
        <p:spPr/>
        <p:txBody>
          <a:bodyPr/>
          <a:lstStyle/>
          <a:p>
            <a:r>
              <a:rPr lang="en-GB" dirty="0"/>
              <a:t>The Shapley Values</a:t>
            </a:r>
          </a:p>
        </p:txBody>
      </p:sp>
      <p:sp>
        <p:nvSpPr>
          <p:cNvPr id="3" name="Content Placeholder 2">
            <a:extLst>
              <a:ext uri="{FF2B5EF4-FFF2-40B4-BE49-F238E27FC236}">
                <a16:creationId xmlns:a16="http://schemas.microsoft.com/office/drawing/2014/main" id="{FDE36265-5A3E-72F1-2836-24AFCFBAC2F9}"/>
              </a:ext>
            </a:extLst>
          </p:cNvPr>
          <p:cNvSpPr>
            <a:spLocks noGrp="1"/>
          </p:cNvSpPr>
          <p:nvPr>
            <p:ph idx="1"/>
          </p:nvPr>
        </p:nvSpPr>
        <p:spPr>
          <a:xfrm>
            <a:off x="838200" y="1825625"/>
            <a:ext cx="7803995" cy="4351338"/>
          </a:xfrm>
        </p:spPr>
        <p:txBody>
          <a:bodyPr>
            <a:normAutofit fontScale="85000" lnSpcReduction="20000"/>
          </a:bodyPr>
          <a:lstStyle/>
          <a:p>
            <a:r>
              <a:rPr lang="en-GB" dirty="0"/>
              <a:t>The goal is to isolate exactly how much credit each individual feature deserves for a specific machine learning prediction.</a:t>
            </a:r>
          </a:p>
          <a:p>
            <a:r>
              <a:rPr lang="en-GB" dirty="0"/>
              <a:t>Because features constantly interact with one another, you cannot simply look at one variable in isolation.</a:t>
            </a:r>
          </a:p>
          <a:p>
            <a:r>
              <a:rPr lang="en-GB" dirty="0"/>
              <a:t>Think of it as a team project splitting a cash bonus fairly based on each person's unique impact.</a:t>
            </a:r>
          </a:p>
          <a:p>
            <a:r>
              <a:rPr lang="en-GB" dirty="0"/>
              <a:t>To find a feature's true value, you measure its marginal contribution by dropping it into every possible sub-group combination of its peers.</a:t>
            </a:r>
          </a:p>
          <a:p>
            <a:r>
              <a:rPr lang="en-GB" dirty="0"/>
              <a:t>The final Shapley value is the grand average of these contributions, which perfectly sums up to bridge the gap between the model's average baseline and the final prediction.</a:t>
            </a:r>
          </a:p>
          <a:p>
            <a:endParaRPr lang="en-GB" dirty="0"/>
          </a:p>
        </p:txBody>
      </p:sp>
      <p:pic>
        <p:nvPicPr>
          <p:cNvPr id="4" name="Picture 3" descr="5 Tips for Working on Group Projects">
            <a:extLst>
              <a:ext uri="{FF2B5EF4-FFF2-40B4-BE49-F238E27FC236}">
                <a16:creationId xmlns:a16="http://schemas.microsoft.com/office/drawing/2014/main" id="{FABE7D9A-0F50-95BB-9125-EA130A516AAC}"/>
              </a:ext>
            </a:extLst>
          </p:cNvPr>
          <p:cNvPicPr>
            <a:picLocks noChangeAspect="1"/>
          </p:cNvPicPr>
          <p:nvPr/>
        </p:nvPicPr>
        <p:blipFill>
          <a:blip r:embed="rId2"/>
          <a:stretch>
            <a:fillRect/>
          </a:stretch>
        </p:blipFill>
        <p:spPr>
          <a:xfrm rot="5400000">
            <a:off x="7286393" y="1917081"/>
            <a:ext cx="6047676" cy="3023838"/>
          </a:xfrm>
          <a:prstGeom prst="rect">
            <a:avLst/>
          </a:prstGeom>
        </p:spPr>
      </p:pic>
    </p:spTree>
    <p:extLst>
      <p:ext uri="{BB962C8B-B14F-4D97-AF65-F5344CB8AC3E}">
        <p14:creationId xmlns:p14="http://schemas.microsoft.com/office/powerpoint/2010/main" val="27479859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4E878-F1BD-4006-76E7-5DF57927A3AA}"/>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DF21DBAA-DE2B-FE6B-15F2-DFD27B661DA4}"/>
              </a:ext>
            </a:extLst>
          </p:cNvPr>
          <p:cNvSpPr>
            <a:spLocks noGrp="1"/>
          </p:cNvSpPr>
          <p:nvPr>
            <p:ph idx="1"/>
          </p:nvPr>
        </p:nvSpPr>
        <p:spPr/>
        <p:txBody>
          <a:bodyPr/>
          <a:lstStyle/>
          <a:p>
            <a:endParaRPr lang="en-GB"/>
          </a:p>
        </p:txBody>
      </p:sp>
      <p:pic>
        <p:nvPicPr>
          <p:cNvPr id="4" name="Picture 3" descr="SHAP analysis identifies important molecular features for... | Download  Scientific Diagram">
            <a:extLst>
              <a:ext uri="{FF2B5EF4-FFF2-40B4-BE49-F238E27FC236}">
                <a16:creationId xmlns:a16="http://schemas.microsoft.com/office/drawing/2014/main" id="{87E6AF26-EE45-17E9-A042-764EABFCAF55}"/>
              </a:ext>
            </a:extLst>
          </p:cNvPr>
          <p:cNvPicPr>
            <a:picLocks noChangeAspect="1"/>
          </p:cNvPicPr>
          <p:nvPr/>
        </p:nvPicPr>
        <p:blipFill>
          <a:blip r:embed="rId3"/>
          <a:stretch>
            <a:fillRect/>
          </a:stretch>
        </p:blipFill>
        <p:spPr>
          <a:xfrm>
            <a:off x="2267712" y="750813"/>
            <a:ext cx="7656576" cy="5362470"/>
          </a:xfrm>
          <a:prstGeom prst="rect">
            <a:avLst/>
          </a:prstGeom>
        </p:spPr>
      </p:pic>
    </p:spTree>
    <p:extLst>
      <p:ext uri="{BB962C8B-B14F-4D97-AF65-F5344CB8AC3E}">
        <p14:creationId xmlns:p14="http://schemas.microsoft.com/office/powerpoint/2010/main" val="8163036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53552-3FC1-0F9E-1E3E-F13253F92A4F}"/>
              </a:ext>
            </a:extLst>
          </p:cNvPr>
          <p:cNvSpPr>
            <a:spLocks noGrp="1"/>
          </p:cNvSpPr>
          <p:nvPr>
            <p:ph type="title"/>
          </p:nvPr>
        </p:nvSpPr>
        <p:spPr/>
        <p:txBody>
          <a:bodyPr/>
          <a:lstStyle/>
          <a:p>
            <a:r>
              <a:rPr lang="en-GB" dirty="0"/>
              <a:t>Artificial intelligence</a:t>
            </a:r>
          </a:p>
        </p:txBody>
      </p:sp>
      <p:sp>
        <p:nvSpPr>
          <p:cNvPr id="3" name="Content Placeholder 2">
            <a:extLst>
              <a:ext uri="{FF2B5EF4-FFF2-40B4-BE49-F238E27FC236}">
                <a16:creationId xmlns:a16="http://schemas.microsoft.com/office/drawing/2014/main" id="{CB7BAACD-1273-9DC7-8F68-52C085998A57}"/>
              </a:ext>
            </a:extLst>
          </p:cNvPr>
          <p:cNvSpPr>
            <a:spLocks noGrp="1"/>
          </p:cNvSpPr>
          <p:nvPr>
            <p:ph idx="1"/>
          </p:nvPr>
        </p:nvSpPr>
        <p:spPr/>
        <p:txBody>
          <a:bodyPr/>
          <a:lstStyle/>
          <a:p>
            <a:r>
              <a:rPr lang="en-GB" dirty="0"/>
              <a:t>What does it mean to you?</a:t>
            </a:r>
          </a:p>
        </p:txBody>
      </p:sp>
      <p:pic>
        <p:nvPicPr>
          <p:cNvPr id="4" name="Picture 3" descr="My favorite way of explaining AI with circles :) We keep ...">
            <a:extLst>
              <a:ext uri="{FF2B5EF4-FFF2-40B4-BE49-F238E27FC236}">
                <a16:creationId xmlns:a16="http://schemas.microsoft.com/office/drawing/2014/main" id="{62EB6F6B-2B6D-BBBB-8D48-F56CE19D029C}"/>
              </a:ext>
            </a:extLst>
          </p:cNvPr>
          <p:cNvPicPr>
            <a:picLocks noChangeAspect="1"/>
          </p:cNvPicPr>
          <p:nvPr/>
        </p:nvPicPr>
        <p:blipFill>
          <a:blip r:embed="rId2"/>
          <a:stretch>
            <a:fillRect/>
          </a:stretch>
        </p:blipFill>
        <p:spPr>
          <a:xfrm>
            <a:off x="6610015" y="1234741"/>
            <a:ext cx="5080000" cy="5086350"/>
          </a:xfrm>
          <a:prstGeom prst="rect">
            <a:avLst/>
          </a:prstGeom>
        </p:spPr>
      </p:pic>
    </p:spTree>
    <p:extLst>
      <p:ext uri="{BB962C8B-B14F-4D97-AF65-F5344CB8AC3E}">
        <p14:creationId xmlns:p14="http://schemas.microsoft.com/office/powerpoint/2010/main" val="23910388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7D9E3-EF08-C896-E7E6-3492F046F399}"/>
              </a:ext>
            </a:extLst>
          </p:cNvPr>
          <p:cNvSpPr>
            <a:spLocks noGrp="1"/>
          </p:cNvSpPr>
          <p:nvPr>
            <p:ph type="title"/>
          </p:nvPr>
        </p:nvSpPr>
        <p:spPr/>
        <p:txBody>
          <a:bodyPr/>
          <a:lstStyle/>
          <a:p>
            <a:r>
              <a:rPr lang="en-GB" dirty="0"/>
              <a:t>Natural Language Processing (NLP)</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B5C3329-C4A9-6749-CB79-37725EE783FD}"/>
                  </a:ext>
                </a:extLst>
              </p:cNvPr>
              <p:cNvSpPr>
                <a:spLocks noGrp="1"/>
              </p:cNvSpPr>
              <p:nvPr>
                <p:ph idx="1"/>
              </p:nvPr>
            </p:nvSpPr>
            <p:spPr/>
            <p:txBody>
              <a:bodyPr/>
              <a:lstStyle/>
              <a:p>
                <a:r>
                  <a:rPr lang="en-GB" dirty="0"/>
                  <a:t>Text Normalisation and Tokenisation</a:t>
                </a:r>
              </a:p>
              <a:p>
                <a14:m>
                  <m:oMath xmlns:m="http://schemas.openxmlformats.org/officeDocument/2006/math">
                    <m:r>
                      <m:rPr>
                        <m:nor/>
                      </m:rPr>
                      <a:rPr lang="en-GB" i="0" smtClean="0">
                        <a:latin typeface="Cambria Math" panose="02040503050406030204" pitchFamily="18" charset="0"/>
                      </a:rPr>
                      <m:t>Vector</m:t>
                    </m:r>
                    <m:d>
                      <m:dPr>
                        <m:ctrlPr>
                          <a:rPr lang="en-GB" i="1">
                            <a:latin typeface="Cambria Math" panose="02040503050406030204" pitchFamily="18" charset="0"/>
                          </a:rPr>
                        </m:ctrlPr>
                      </m:dPr>
                      <m:e>
                        <m:r>
                          <m:rPr>
                            <m:sty m:val="p"/>
                          </m:rPr>
                          <a:rPr lang="en-GB" i="1">
                            <a:latin typeface="Cambria Math" panose="02040503050406030204" pitchFamily="18" charset="0"/>
                          </a:rPr>
                          <m:t>King</m:t>
                        </m:r>
                      </m:e>
                    </m:d>
                    <m:r>
                      <a:rPr lang="en-GB" i="1">
                        <a:latin typeface="Cambria Math" panose="02040503050406030204" pitchFamily="18" charset="0"/>
                      </a:rPr>
                      <m:t>−</m:t>
                    </m:r>
                    <m:r>
                      <m:rPr>
                        <m:nor/>
                      </m:rPr>
                      <a:rPr lang="en-GB" i="0">
                        <a:latin typeface="Cambria Math" panose="02040503050406030204" pitchFamily="18" charset="0"/>
                      </a:rPr>
                      <m:t>Vector</m:t>
                    </m:r>
                    <m:d>
                      <m:dPr>
                        <m:ctrlPr>
                          <a:rPr lang="en-GB" i="1">
                            <a:latin typeface="Cambria Math" panose="02040503050406030204" pitchFamily="18" charset="0"/>
                          </a:rPr>
                        </m:ctrlPr>
                      </m:dPr>
                      <m:e>
                        <m:r>
                          <m:rPr>
                            <m:sty m:val="p"/>
                          </m:rPr>
                          <a:rPr lang="en-GB" i="1">
                            <a:latin typeface="Cambria Math" panose="02040503050406030204" pitchFamily="18" charset="0"/>
                          </a:rPr>
                          <m:t>Man</m:t>
                        </m:r>
                      </m:e>
                    </m:d>
                    <m:r>
                      <a:rPr lang="en-GB" i="1">
                        <a:latin typeface="Cambria Math" panose="02040503050406030204" pitchFamily="18" charset="0"/>
                      </a:rPr>
                      <m:t>+</m:t>
                    </m:r>
                    <m:r>
                      <m:rPr>
                        <m:nor/>
                      </m:rPr>
                      <a:rPr lang="en-GB" i="0">
                        <a:latin typeface="Cambria Math" panose="02040503050406030204" pitchFamily="18" charset="0"/>
                      </a:rPr>
                      <m:t>Vector</m:t>
                    </m:r>
                    <m:d>
                      <m:dPr>
                        <m:ctrlPr>
                          <a:rPr lang="en-GB" i="1">
                            <a:latin typeface="Cambria Math" panose="02040503050406030204" pitchFamily="18" charset="0"/>
                          </a:rPr>
                        </m:ctrlPr>
                      </m:dPr>
                      <m:e>
                        <m:r>
                          <m:rPr>
                            <m:sty m:val="p"/>
                          </m:rPr>
                          <a:rPr lang="en-GB" i="1">
                            <a:latin typeface="Cambria Math" panose="02040503050406030204" pitchFamily="18" charset="0"/>
                          </a:rPr>
                          <m:t>Woman</m:t>
                        </m:r>
                      </m:e>
                    </m:d>
                    <m:r>
                      <a:rPr lang="en-GB" i="1">
                        <a:latin typeface="Cambria Math" panose="02040503050406030204" pitchFamily="18" charset="0"/>
                      </a:rPr>
                      <m:t>≈</m:t>
                    </m:r>
                    <m:r>
                      <m:rPr>
                        <m:nor/>
                      </m:rPr>
                      <a:rPr lang="en-GB" i="0">
                        <a:latin typeface="Cambria Math" panose="02040503050406030204" pitchFamily="18" charset="0"/>
                      </a:rPr>
                      <m:t>Vector</m:t>
                    </m:r>
                    <m:d>
                      <m:dPr>
                        <m:ctrlPr>
                          <a:rPr lang="en-GB" i="1">
                            <a:latin typeface="Cambria Math" panose="02040503050406030204" pitchFamily="18" charset="0"/>
                          </a:rPr>
                        </m:ctrlPr>
                      </m:dPr>
                      <m:e>
                        <m:r>
                          <m:rPr>
                            <m:sty m:val="p"/>
                          </m:rPr>
                          <a:rPr lang="en-GB" i="1">
                            <a:latin typeface="Cambria Math" panose="02040503050406030204" pitchFamily="18" charset="0"/>
                          </a:rPr>
                          <m:t>Queen</m:t>
                        </m:r>
                      </m:e>
                    </m:d>
                  </m:oMath>
                </a14:m>
                <a:endParaRPr lang="en-GB" dirty="0"/>
              </a:p>
              <a:p>
                <a:r>
                  <a:rPr lang="en-GB" dirty="0"/>
                  <a:t>Understanding (NLU) vs Generation (NLG)</a:t>
                </a:r>
              </a:p>
            </p:txBody>
          </p:sp>
        </mc:Choice>
        <mc:Fallback xmlns="">
          <p:sp>
            <p:nvSpPr>
              <p:cNvPr id="3" name="Content Placeholder 2">
                <a:extLst>
                  <a:ext uri="{FF2B5EF4-FFF2-40B4-BE49-F238E27FC236}">
                    <a16:creationId xmlns:a16="http://schemas.microsoft.com/office/drawing/2014/main" id="{8B5C3329-C4A9-6749-CB79-37725EE783FD}"/>
                  </a:ext>
                </a:extLst>
              </p:cNvPr>
              <p:cNvSpPr>
                <a:spLocks noGrp="1" noRot="1" noChangeAspect="1" noMove="1" noResize="1" noEditPoints="1" noAdjustHandles="1" noChangeArrowheads="1" noChangeShapeType="1" noTextEdit="1"/>
              </p:cNvSpPr>
              <p:nvPr>
                <p:ph idx="1"/>
              </p:nvPr>
            </p:nvSpPr>
            <p:spPr>
              <a:blipFill>
                <a:blip r:embed="rId3"/>
                <a:stretch>
                  <a:fillRect l="-1043" t="-2381"/>
                </a:stretch>
              </a:blipFill>
            </p:spPr>
            <p:txBody>
              <a:bodyPr/>
              <a:lstStyle/>
              <a:p>
                <a:r>
                  <a:rPr lang="en-GB">
                    <a:noFill/>
                  </a:rPr>
                  <a:t> </a:t>
                </a:r>
              </a:p>
            </p:txBody>
          </p:sp>
        </mc:Fallback>
      </mc:AlternateContent>
      <p:pic>
        <p:nvPicPr>
          <p:cNvPr id="1027" name="Picture 3" descr="Vector Embeddings Explained: A Beginner's Guide to Powerful AI - The New  Stack">
            <a:extLst>
              <a:ext uri="{FF2B5EF4-FFF2-40B4-BE49-F238E27FC236}">
                <a16:creationId xmlns:a16="http://schemas.microsoft.com/office/drawing/2014/main" id="{B8ECD67C-E03C-B614-C031-33BDE3B279C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8617" b="9259"/>
          <a:stretch>
            <a:fillRect/>
          </a:stretch>
        </p:blipFill>
        <p:spPr bwMode="auto">
          <a:xfrm>
            <a:off x="1140542" y="3598606"/>
            <a:ext cx="9753600" cy="32383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1567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8531D-34F8-68B0-DF76-80B96D4CDE77}"/>
              </a:ext>
            </a:extLst>
          </p:cNvPr>
          <p:cNvSpPr>
            <a:spLocks noGrp="1"/>
          </p:cNvSpPr>
          <p:nvPr>
            <p:ph type="title"/>
          </p:nvPr>
        </p:nvSpPr>
        <p:spPr/>
        <p:txBody>
          <a:bodyPr/>
          <a:lstStyle/>
          <a:p>
            <a:r>
              <a:rPr lang="en-GB" dirty="0"/>
              <a:t>Deep Learning</a:t>
            </a:r>
          </a:p>
        </p:txBody>
      </p:sp>
      <p:sp>
        <p:nvSpPr>
          <p:cNvPr id="3" name="Content Placeholder 2">
            <a:extLst>
              <a:ext uri="{FF2B5EF4-FFF2-40B4-BE49-F238E27FC236}">
                <a16:creationId xmlns:a16="http://schemas.microsoft.com/office/drawing/2014/main" id="{FD386F14-6D1A-A9E0-B30D-1EC005E397D4}"/>
              </a:ext>
            </a:extLst>
          </p:cNvPr>
          <p:cNvSpPr>
            <a:spLocks noGrp="1"/>
          </p:cNvSpPr>
          <p:nvPr>
            <p:ph idx="1"/>
          </p:nvPr>
        </p:nvSpPr>
        <p:spPr/>
        <p:txBody>
          <a:bodyPr/>
          <a:lstStyle/>
          <a:p>
            <a:r>
              <a:rPr lang="en-GB" dirty="0"/>
              <a:t>Physics-informed machine learning (PINNs)</a:t>
            </a:r>
          </a:p>
          <a:p>
            <a:pPr lvl="1"/>
            <a:r>
              <a:rPr lang="en-GB" dirty="0"/>
              <a:t>Integrating Physical laws into the loss function of neural networks</a:t>
            </a:r>
          </a:p>
          <a:p>
            <a:pPr lvl="1"/>
            <a:endParaRPr lang="en-GB" dirty="0"/>
          </a:p>
          <a:p>
            <a:r>
              <a:rPr lang="en-GB" dirty="0"/>
              <a:t>Data curation and provenance</a:t>
            </a:r>
          </a:p>
          <a:p>
            <a:pPr lvl="1"/>
            <a:r>
              <a:rPr lang="en-GB" dirty="0"/>
              <a:t>Garbage in, garbage out</a:t>
            </a:r>
          </a:p>
          <a:p>
            <a:endParaRPr lang="en-GB" dirty="0"/>
          </a:p>
          <a:p>
            <a:r>
              <a:rPr lang="en-GB" dirty="0"/>
              <a:t>Uncertainty quantification</a:t>
            </a:r>
          </a:p>
          <a:p>
            <a:pPr lvl="1"/>
            <a:r>
              <a:rPr lang="en-GB" dirty="0"/>
              <a:t>Bayesian deep learning / dropout techniques</a:t>
            </a:r>
          </a:p>
        </p:txBody>
      </p:sp>
    </p:spTree>
    <p:extLst>
      <p:ext uri="{BB962C8B-B14F-4D97-AF65-F5344CB8AC3E}">
        <p14:creationId xmlns:p14="http://schemas.microsoft.com/office/powerpoint/2010/main" val="14582300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FFAAE-EA96-96D0-4A77-EAEA0A5F5908}"/>
              </a:ext>
            </a:extLst>
          </p:cNvPr>
          <p:cNvSpPr>
            <a:spLocks noGrp="1"/>
          </p:cNvSpPr>
          <p:nvPr>
            <p:ph type="title"/>
          </p:nvPr>
        </p:nvSpPr>
        <p:spPr/>
        <p:txBody>
          <a:bodyPr/>
          <a:lstStyle/>
          <a:p>
            <a:r>
              <a:rPr lang="en-GB" dirty="0"/>
              <a:t>AI Ethics</a:t>
            </a:r>
          </a:p>
        </p:txBody>
      </p:sp>
      <p:sp>
        <p:nvSpPr>
          <p:cNvPr id="3" name="Content Placeholder 2">
            <a:extLst>
              <a:ext uri="{FF2B5EF4-FFF2-40B4-BE49-F238E27FC236}">
                <a16:creationId xmlns:a16="http://schemas.microsoft.com/office/drawing/2014/main" id="{FB844C51-9D38-7525-BBA0-99B53FBC3323}"/>
              </a:ext>
            </a:extLst>
          </p:cNvPr>
          <p:cNvSpPr>
            <a:spLocks noGrp="1"/>
          </p:cNvSpPr>
          <p:nvPr>
            <p:ph idx="1"/>
          </p:nvPr>
        </p:nvSpPr>
        <p:spPr/>
        <p:txBody>
          <a:bodyPr/>
          <a:lstStyle/>
          <a:p>
            <a:pPr marL="514350" indent="-514350">
              <a:buFont typeface="+mj-lt"/>
              <a:buAutoNum type="arabicPeriod"/>
            </a:pPr>
            <a:r>
              <a:rPr lang="en-GB" sz="5400" dirty="0"/>
              <a:t>Verification</a:t>
            </a:r>
          </a:p>
          <a:p>
            <a:pPr marL="514350" indent="-514350">
              <a:buFont typeface="+mj-lt"/>
              <a:buAutoNum type="arabicPeriod"/>
            </a:pPr>
            <a:r>
              <a:rPr lang="en-GB" sz="5400" dirty="0"/>
              <a:t>Traceability</a:t>
            </a:r>
          </a:p>
          <a:p>
            <a:pPr marL="514350" indent="-514350">
              <a:buFont typeface="+mj-lt"/>
              <a:buAutoNum type="arabicPeriod"/>
            </a:pPr>
            <a:r>
              <a:rPr lang="en-GB" sz="5400" dirty="0"/>
              <a:t>Ultimate Liability</a:t>
            </a:r>
          </a:p>
          <a:p>
            <a:pPr marL="514350" indent="-514350">
              <a:buFont typeface="+mj-lt"/>
              <a:buAutoNum type="arabicPeriod"/>
            </a:pPr>
            <a:r>
              <a:rPr lang="en-GB" sz="5400" dirty="0"/>
              <a:t>Boundary Clarity</a:t>
            </a:r>
          </a:p>
          <a:p>
            <a:pPr marL="514350" indent="-514350">
              <a:buFont typeface="+mj-lt"/>
              <a:buAutoNum type="arabicPeriod"/>
            </a:pPr>
            <a:r>
              <a:rPr lang="en-GB" sz="5400" dirty="0"/>
              <a:t>Stewardship</a:t>
            </a:r>
          </a:p>
          <a:p>
            <a:endParaRPr lang="en-GB" dirty="0"/>
          </a:p>
        </p:txBody>
      </p:sp>
    </p:spTree>
    <p:extLst>
      <p:ext uri="{BB962C8B-B14F-4D97-AF65-F5344CB8AC3E}">
        <p14:creationId xmlns:p14="http://schemas.microsoft.com/office/powerpoint/2010/main" val="35504510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DEBF9-2BFC-823A-0594-81855A08F217}"/>
              </a:ext>
            </a:extLst>
          </p:cNvPr>
          <p:cNvSpPr>
            <a:spLocks noGrp="1"/>
          </p:cNvSpPr>
          <p:nvPr>
            <p:ph type="title"/>
          </p:nvPr>
        </p:nvSpPr>
        <p:spPr/>
        <p:txBody>
          <a:bodyPr/>
          <a:lstStyle/>
          <a:p>
            <a:r>
              <a:rPr lang="en-GB" dirty="0"/>
              <a:t>I - Verification</a:t>
            </a:r>
          </a:p>
        </p:txBody>
      </p:sp>
      <p:sp>
        <p:nvSpPr>
          <p:cNvPr id="3" name="Content Placeholder 2">
            <a:extLst>
              <a:ext uri="{FF2B5EF4-FFF2-40B4-BE49-F238E27FC236}">
                <a16:creationId xmlns:a16="http://schemas.microsoft.com/office/drawing/2014/main" id="{02D8A940-F6C7-E2F5-A943-A27BA9ADCB9F}"/>
              </a:ext>
            </a:extLst>
          </p:cNvPr>
          <p:cNvSpPr>
            <a:spLocks noGrp="1"/>
          </p:cNvSpPr>
          <p:nvPr>
            <p:ph idx="1"/>
          </p:nvPr>
        </p:nvSpPr>
        <p:spPr/>
        <p:txBody>
          <a:bodyPr/>
          <a:lstStyle/>
          <a:p>
            <a:r>
              <a:rPr lang="en-GB" dirty="0"/>
              <a:t>Model outputs are probability estimates, not verified truths</a:t>
            </a:r>
          </a:p>
          <a:p>
            <a:r>
              <a:rPr lang="en-GB" dirty="0"/>
              <a:t>Validate against empirical reality before use</a:t>
            </a:r>
          </a:p>
          <a:p>
            <a:r>
              <a:rPr lang="en-GB" dirty="0"/>
              <a:t>Apply physical, statistical, and engineering constraint bounds</a:t>
            </a:r>
          </a:p>
          <a:p>
            <a:r>
              <a:rPr lang="en-GB" dirty="0"/>
              <a:t>Calibration and conformal prediction intervals are required instruments</a:t>
            </a:r>
          </a:p>
          <a:p>
            <a:endParaRPr lang="en-GB" dirty="0"/>
          </a:p>
        </p:txBody>
      </p:sp>
    </p:spTree>
    <p:extLst>
      <p:ext uri="{BB962C8B-B14F-4D97-AF65-F5344CB8AC3E}">
        <p14:creationId xmlns:p14="http://schemas.microsoft.com/office/powerpoint/2010/main" val="6034104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787C4-2829-A2DC-AD61-877B0D103B91}"/>
              </a:ext>
            </a:extLst>
          </p:cNvPr>
          <p:cNvSpPr>
            <a:spLocks noGrp="1"/>
          </p:cNvSpPr>
          <p:nvPr>
            <p:ph type="title"/>
          </p:nvPr>
        </p:nvSpPr>
        <p:spPr/>
        <p:txBody>
          <a:bodyPr/>
          <a:lstStyle/>
          <a:p>
            <a:r>
              <a:rPr lang="en-GB" dirty="0"/>
              <a:t>II - Traceability</a:t>
            </a:r>
          </a:p>
        </p:txBody>
      </p:sp>
      <p:sp>
        <p:nvSpPr>
          <p:cNvPr id="3" name="Content Placeholder 2">
            <a:extLst>
              <a:ext uri="{FF2B5EF4-FFF2-40B4-BE49-F238E27FC236}">
                <a16:creationId xmlns:a16="http://schemas.microsoft.com/office/drawing/2014/main" id="{AA96E60B-EC37-9D70-F842-99C13D3FEDC6}"/>
              </a:ext>
            </a:extLst>
          </p:cNvPr>
          <p:cNvSpPr>
            <a:spLocks noGrp="1"/>
          </p:cNvSpPr>
          <p:nvPr>
            <p:ph idx="1"/>
          </p:nvPr>
        </p:nvSpPr>
        <p:spPr/>
        <p:txBody>
          <a:bodyPr/>
          <a:lstStyle/>
          <a:p>
            <a:r>
              <a:rPr lang="en-GB" dirty="0"/>
              <a:t>Training data provenance must be documented and auditable</a:t>
            </a:r>
          </a:p>
          <a:p>
            <a:r>
              <a:rPr lang="en-GB" dirty="0"/>
              <a:t>Pipelines must be fully reproducible end-to-end</a:t>
            </a:r>
          </a:p>
          <a:p>
            <a:r>
              <a:rPr lang="en-GB" dirty="0"/>
              <a:t>Third-party/open-source models require a formal secondary data attestation</a:t>
            </a:r>
          </a:p>
          <a:p>
            <a:r>
              <a:rPr lang="en-GB" dirty="0"/>
              <a:t>Misrepresenting AI-generated content as your own engineering work is unethical</a:t>
            </a:r>
          </a:p>
          <a:p>
            <a:endParaRPr lang="en-GB" dirty="0"/>
          </a:p>
        </p:txBody>
      </p:sp>
    </p:spTree>
    <p:extLst>
      <p:ext uri="{BB962C8B-B14F-4D97-AF65-F5344CB8AC3E}">
        <p14:creationId xmlns:p14="http://schemas.microsoft.com/office/powerpoint/2010/main" val="26975791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6CA40-0130-69F1-1BDB-58C15A73F384}"/>
              </a:ext>
            </a:extLst>
          </p:cNvPr>
          <p:cNvSpPr>
            <a:spLocks noGrp="1"/>
          </p:cNvSpPr>
          <p:nvPr>
            <p:ph type="title"/>
          </p:nvPr>
        </p:nvSpPr>
        <p:spPr/>
        <p:txBody>
          <a:bodyPr/>
          <a:lstStyle/>
          <a:p>
            <a:r>
              <a:rPr lang="en-GB" dirty="0"/>
              <a:t>III - Ultimate Liability</a:t>
            </a:r>
          </a:p>
        </p:txBody>
      </p:sp>
      <p:sp>
        <p:nvSpPr>
          <p:cNvPr id="3" name="Content Placeholder 2">
            <a:extLst>
              <a:ext uri="{FF2B5EF4-FFF2-40B4-BE49-F238E27FC236}">
                <a16:creationId xmlns:a16="http://schemas.microsoft.com/office/drawing/2014/main" id="{35EABA56-BD42-E627-5FA5-BBEAEEF6C203}"/>
              </a:ext>
            </a:extLst>
          </p:cNvPr>
          <p:cNvSpPr>
            <a:spLocks noGrp="1"/>
          </p:cNvSpPr>
          <p:nvPr>
            <p:ph idx="1"/>
          </p:nvPr>
        </p:nvSpPr>
        <p:spPr/>
        <p:txBody>
          <a:bodyPr/>
          <a:lstStyle/>
          <a:p>
            <a:r>
              <a:rPr lang="en-GB" dirty="0"/>
              <a:t>Algorithms carry zero professional liability, engineers do</a:t>
            </a:r>
          </a:p>
          <a:p>
            <a:r>
              <a:rPr lang="en-GB" dirty="0"/>
              <a:t>Certifying an AI-powered system makes you personally accountable for its failure modes</a:t>
            </a:r>
          </a:p>
          <a:p>
            <a:r>
              <a:rPr lang="en-GB" dirty="0"/>
              <a:t>Liability cannot be distributed across pipeline authorship or delegated to the model</a:t>
            </a:r>
          </a:p>
          <a:p>
            <a:r>
              <a:rPr lang="en-GB" dirty="0"/>
              <a:t>Professional accountability cannot be delegated to a computational process</a:t>
            </a:r>
          </a:p>
          <a:p>
            <a:endParaRPr lang="en-GB" dirty="0"/>
          </a:p>
        </p:txBody>
      </p:sp>
    </p:spTree>
    <p:extLst>
      <p:ext uri="{BB962C8B-B14F-4D97-AF65-F5344CB8AC3E}">
        <p14:creationId xmlns:p14="http://schemas.microsoft.com/office/powerpoint/2010/main" val="25751516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A1874-D2AB-B5BB-AC78-6747AE37A325}"/>
              </a:ext>
            </a:extLst>
          </p:cNvPr>
          <p:cNvSpPr>
            <a:spLocks noGrp="1"/>
          </p:cNvSpPr>
          <p:nvPr>
            <p:ph type="title"/>
          </p:nvPr>
        </p:nvSpPr>
        <p:spPr/>
        <p:txBody>
          <a:bodyPr/>
          <a:lstStyle/>
          <a:p>
            <a:r>
              <a:rPr lang="en-GB" dirty="0"/>
              <a:t>IV - Boundary Clarity</a:t>
            </a:r>
          </a:p>
        </p:txBody>
      </p:sp>
      <p:sp>
        <p:nvSpPr>
          <p:cNvPr id="3" name="Content Placeholder 2">
            <a:extLst>
              <a:ext uri="{FF2B5EF4-FFF2-40B4-BE49-F238E27FC236}">
                <a16:creationId xmlns:a16="http://schemas.microsoft.com/office/drawing/2014/main" id="{A96F5454-7745-6957-C417-742CE6E39587}"/>
              </a:ext>
            </a:extLst>
          </p:cNvPr>
          <p:cNvSpPr>
            <a:spLocks noGrp="1"/>
          </p:cNvSpPr>
          <p:nvPr>
            <p:ph idx="1"/>
          </p:nvPr>
        </p:nvSpPr>
        <p:spPr/>
        <p:txBody>
          <a:bodyPr/>
          <a:lstStyle/>
          <a:p>
            <a:r>
              <a:rPr lang="en-GB" dirty="0"/>
              <a:t>Define explicitly where training distribution ends and extrapolation begins</a:t>
            </a:r>
          </a:p>
          <a:p>
            <a:r>
              <a:rPr lang="en-GB" dirty="0"/>
              <a:t>Use mathematically defensible metrics (e.g. conformal prediction intervals, reconstruction error)</a:t>
            </a:r>
          </a:p>
          <a:p>
            <a:r>
              <a:rPr lang="en-GB" dirty="0"/>
              <a:t>OOD conditions and distributional drift must be systematically detected and disclosed</a:t>
            </a:r>
          </a:p>
          <a:p>
            <a:r>
              <a:rPr lang="en-GB" dirty="0"/>
              <a:t>Create an environment where raising model anomalies is a procedural obligation, not an act of courage</a:t>
            </a:r>
          </a:p>
          <a:p>
            <a:endParaRPr lang="en-GB" dirty="0"/>
          </a:p>
        </p:txBody>
      </p:sp>
    </p:spTree>
    <p:extLst>
      <p:ext uri="{BB962C8B-B14F-4D97-AF65-F5344CB8AC3E}">
        <p14:creationId xmlns:p14="http://schemas.microsoft.com/office/powerpoint/2010/main" val="27863893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D224F-4AE6-3FE6-223A-112169C2F7CE}"/>
              </a:ext>
            </a:extLst>
          </p:cNvPr>
          <p:cNvSpPr>
            <a:spLocks noGrp="1"/>
          </p:cNvSpPr>
          <p:nvPr>
            <p:ph type="title"/>
          </p:nvPr>
        </p:nvSpPr>
        <p:spPr/>
        <p:txBody>
          <a:bodyPr/>
          <a:lstStyle/>
          <a:p>
            <a:r>
              <a:rPr lang="en-GB" dirty="0"/>
              <a:t>V - Stewardship</a:t>
            </a:r>
          </a:p>
        </p:txBody>
      </p:sp>
      <p:sp>
        <p:nvSpPr>
          <p:cNvPr id="3" name="Content Placeholder 2">
            <a:extLst>
              <a:ext uri="{FF2B5EF4-FFF2-40B4-BE49-F238E27FC236}">
                <a16:creationId xmlns:a16="http://schemas.microsoft.com/office/drawing/2014/main" id="{84878DF4-AD06-826D-2FCA-AF84682F8E52}"/>
              </a:ext>
            </a:extLst>
          </p:cNvPr>
          <p:cNvSpPr>
            <a:spLocks noGrp="1"/>
          </p:cNvSpPr>
          <p:nvPr>
            <p:ph idx="1"/>
          </p:nvPr>
        </p:nvSpPr>
        <p:spPr/>
        <p:txBody>
          <a:bodyPr/>
          <a:lstStyle/>
          <a:p>
            <a:r>
              <a:rPr lang="en-GB" dirty="0"/>
              <a:t>Anticipate future failure modes, adversarial vulnerabilities, and dual-use risks</a:t>
            </a:r>
          </a:p>
          <a:p>
            <a:r>
              <a:rPr lang="en-GB" dirty="0"/>
              <a:t>Where serious harm to people or environment is credible, apply the precautionary principle</a:t>
            </a:r>
          </a:p>
          <a:p>
            <a:r>
              <a:rPr lang="en-GB" dirty="0"/>
              <a:t>Technology is advancing faster than governance so pre-emptive action is required</a:t>
            </a:r>
          </a:p>
          <a:p>
            <a:r>
              <a:rPr lang="en-GB" dirty="0"/>
              <a:t>Risk tier determines when precaution becomes mandatory, not uniform maximum controls</a:t>
            </a:r>
          </a:p>
          <a:p>
            <a:endParaRPr lang="en-GB" dirty="0"/>
          </a:p>
        </p:txBody>
      </p:sp>
    </p:spTree>
    <p:extLst>
      <p:ext uri="{BB962C8B-B14F-4D97-AF65-F5344CB8AC3E}">
        <p14:creationId xmlns:p14="http://schemas.microsoft.com/office/powerpoint/2010/main" val="29051269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35F55-5AE1-9707-C382-1445E89C2D61}"/>
              </a:ext>
            </a:extLst>
          </p:cNvPr>
          <p:cNvSpPr>
            <a:spLocks noGrp="1"/>
          </p:cNvSpPr>
          <p:nvPr>
            <p:ph type="title"/>
          </p:nvPr>
        </p:nvSpPr>
        <p:spPr/>
        <p:txBody>
          <a:bodyPr/>
          <a:lstStyle/>
          <a:p>
            <a:r>
              <a:rPr lang="en-GB" dirty="0"/>
              <a:t>The Sustainability Flop</a:t>
            </a:r>
          </a:p>
        </p:txBody>
      </p:sp>
      <p:sp>
        <p:nvSpPr>
          <p:cNvPr id="3" name="Content Placeholder 2">
            <a:extLst>
              <a:ext uri="{FF2B5EF4-FFF2-40B4-BE49-F238E27FC236}">
                <a16:creationId xmlns:a16="http://schemas.microsoft.com/office/drawing/2014/main" id="{2D4ED25F-48CD-11AE-C603-0DE5996427AD}"/>
              </a:ext>
            </a:extLst>
          </p:cNvPr>
          <p:cNvSpPr>
            <a:spLocks noGrp="1"/>
          </p:cNvSpPr>
          <p:nvPr>
            <p:ph idx="1"/>
          </p:nvPr>
        </p:nvSpPr>
        <p:spPr/>
        <p:txBody>
          <a:bodyPr/>
          <a:lstStyle/>
          <a:p>
            <a:r>
              <a:rPr lang="en-GB" dirty="0"/>
              <a:t>AI is projected to use 1000 TWh of electricity by 2030, if it was a country this would make it the 5</a:t>
            </a:r>
            <a:r>
              <a:rPr lang="en-GB" baseline="30000" dirty="0"/>
              <a:t>th</a:t>
            </a:r>
            <a:r>
              <a:rPr lang="en-GB" dirty="0"/>
              <a:t> largest energy consumer on earth</a:t>
            </a:r>
          </a:p>
          <a:p>
            <a:r>
              <a:rPr lang="en-GB" dirty="0"/>
              <a:t>AI servers generate significant heat and consume water equal to the domestic needs of 1.3 billion people</a:t>
            </a:r>
          </a:p>
          <a:p>
            <a:r>
              <a:rPr lang="en-GB" dirty="0"/>
              <a:t>AI GPUs contribute millions of tonnes of e-waste annually</a:t>
            </a:r>
          </a:p>
        </p:txBody>
      </p:sp>
    </p:spTree>
    <p:extLst>
      <p:ext uri="{BB962C8B-B14F-4D97-AF65-F5344CB8AC3E}">
        <p14:creationId xmlns:p14="http://schemas.microsoft.com/office/powerpoint/2010/main" val="19309621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FB0FE-1D81-4CCC-DCD7-EC004B10CB34}"/>
              </a:ext>
            </a:extLst>
          </p:cNvPr>
          <p:cNvSpPr>
            <a:spLocks noGrp="1"/>
          </p:cNvSpPr>
          <p:nvPr>
            <p:ph type="title"/>
          </p:nvPr>
        </p:nvSpPr>
        <p:spPr/>
        <p:txBody>
          <a:bodyPr/>
          <a:lstStyle/>
          <a:p>
            <a:r>
              <a:rPr lang="en-GB" dirty="0"/>
              <a:t>How to use AI sustainably</a:t>
            </a:r>
          </a:p>
        </p:txBody>
      </p:sp>
      <p:sp>
        <p:nvSpPr>
          <p:cNvPr id="3" name="Content Placeholder 2">
            <a:extLst>
              <a:ext uri="{FF2B5EF4-FFF2-40B4-BE49-F238E27FC236}">
                <a16:creationId xmlns:a16="http://schemas.microsoft.com/office/drawing/2014/main" id="{3A5533A2-8A06-533B-D91F-9AD7FFB2C1B4}"/>
              </a:ext>
            </a:extLst>
          </p:cNvPr>
          <p:cNvSpPr>
            <a:spLocks noGrp="1"/>
          </p:cNvSpPr>
          <p:nvPr>
            <p:ph idx="1"/>
          </p:nvPr>
        </p:nvSpPr>
        <p:spPr/>
        <p:txBody>
          <a:bodyPr/>
          <a:lstStyle/>
          <a:p>
            <a:r>
              <a:rPr lang="en-GB" dirty="0"/>
              <a:t>Implement AI selectively</a:t>
            </a:r>
          </a:p>
          <a:p>
            <a:r>
              <a:rPr lang="en-GB" dirty="0"/>
              <a:t>Schedule tasks for when the local power grid is using more sustainable energy</a:t>
            </a:r>
          </a:p>
          <a:p>
            <a:r>
              <a:rPr lang="en-GB" dirty="0"/>
              <a:t>Quantify and monitor the footprint of your usage</a:t>
            </a:r>
          </a:p>
          <a:p>
            <a:endParaRPr lang="en-GB" dirty="0"/>
          </a:p>
        </p:txBody>
      </p:sp>
    </p:spTree>
    <p:extLst>
      <p:ext uri="{BB962C8B-B14F-4D97-AF65-F5344CB8AC3E}">
        <p14:creationId xmlns:p14="http://schemas.microsoft.com/office/powerpoint/2010/main" val="32631156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C87F608-ADAC-43B4-3926-A4C6A4E24B52}"/>
              </a:ext>
            </a:extLst>
          </p:cNvPr>
          <p:cNvSpPr>
            <a:spLocks noGrp="1"/>
          </p:cNvSpPr>
          <p:nvPr>
            <p:ph type="title"/>
          </p:nvPr>
        </p:nvSpPr>
        <p:spPr/>
        <p:txBody>
          <a:bodyPr/>
          <a:lstStyle/>
          <a:p>
            <a:endParaRPr lang="en-GB"/>
          </a:p>
        </p:txBody>
      </p:sp>
      <p:pic>
        <p:nvPicPr>
          <p:cNvPr id="5" name="Content Placeholder 4">
            <a:extLst>
              <a:ext uri="{FF2B5EF4-FFF2-40B4-BE49-F238E27FC236}">
                <a16:creationId xmlns:a16="http://schemas.microsoft.com/office/drawing/2014/main" id="{F59DE73A-1619-9F70-8381-2739050F69A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20331" y="1825625"/>
            <a:ext cx="4351338" cy="4351338"/>
          </a:xfrm>
        </p:spPr>
      </p:pic>
    </p:spTree>
    <p:extLst>
      <p:ext uri="{BB962C8B-B14F-4D97-AF65-F5344CB8AC3E}">
        <p14:creationId xmlns:p14="http://schemas.microsoft.com/office/powerpoint/2010/main" val="23195225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13661</TotalTime>
  <Words>1458</Words>
  <Application>Microsoft Office PowerPoint</Application>
  <PresentationFormat>Widescreen</PresentationFormat>
  <Paragraphs>163</Paragraphs>
  <Slides>28</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Aptos</vt:lpstr>
      <vt:lpstr>Arial</vt:lpstr>
      <vt:lpstr>Wingdings</vt:lpstr>
      <vt:lpstr>Cambria Math</vt:lpstr>
      <vt:lpstr>Aptos Display</vt:lpstr>
      <vt:lpstr>Office Theme</vt:lpstr>
      <vt:lpstr>Machine Learning in Data Analytics</vt:lpstr>
      <vt:lpstr>Machine Learning</vt:lpstr>
      <vt:lpstr>Training a Toddler</vt:lpstr>
      <vt:lpstr>Noise, Drift and Anomalies</vt:lpstr>
      <vt:lpstr>Machine Learning Algorithms</vt:lpstr>
      <vt:lpstr>How tree models work</vt:lpstr>
      <vt:lpstr>Random Forest Regressors</vt:lpstr>
      <vt:lpstr>The Limits of Trees</vt:lpstr>
      <vt:lpstr>Feature Engineering</vt:lpstr>
      <vt:lpstr>Feature Engineering</vt:lpstr>
      <vt:lpstr>Risk &amp; Uncertainty via Gaussian Processes</vt:lpstr>
      <vt:lpstr>Driving down a foggy road</vt:lpstr>
      <vt:lpstr>Implementing Physical Boundary Layer Constraints</vt:lpstr>
      <vt:lpstr>Applied Engineering Ethics and Explainable Frameworks</vt:lpstr>
      <vt:lpstr>The Shapley Values</vt:lpstr>
      <vt:lpstr>PowerPoint Presentation</vt:lpstr>
      <vt:lpstr>Artificial intelligence</vt:lpstr>
      <vt:lpstr>Natural Language Processing (NLP)</vt:lpstr>
      <vt:lpstr>Deep Learning</vt:lpstr>
      <vt:lpstr>AI Ethics</vt:lpstr>
      <vt:lpstr>I - Verification</vt:lpstr>
      <vt:lpstr>II - Traceability</vt:lpstr>
      <vt:lpstr>III - Ultimate Liability</vt:lpstr>
      <vt:lpstr>IV - Boundary Clarity</vt:lpstr>
      <vt:lpstr>V - Stewardship</vt:lpstr>
      <vt:lpstr>The Sustainability Flop</vt:lpstr>
      <vt:lpstr>How to use AI sustainably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Jacob Frusher (jf7g23)</dc:creator>
  <cp:lastModifiedBy>Jacob Frusher (jf7g23)</cp:lastModifiedBy>
  <cp:revision>2</cp:revision>
  <dcterms:created xsi:type="dcterms:W3CDTF">2026-06-12T14:36:31Z</dcterms:created>
  <dcterms:modified xsi:type="dcterms:W3CDTF">2026-07-02T13:02:33Z</dcterms:modified>
</cp:coreProperties>
</file>